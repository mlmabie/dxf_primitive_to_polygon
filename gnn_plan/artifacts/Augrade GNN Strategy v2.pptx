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24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5720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9601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46304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96596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246888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97180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34747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3977640"/>
            <a:ext cx="91440" cy="54864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0" kern="0" dirty="0">
                <a:solidFill>
                  <a:srgbClr val="E9C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0972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Fixed-point iteration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the system frame.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is one mechanism choice inside that frame; the frame is what ships.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3931920"/>
            <a:ext cx="146304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4164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 Mabie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Mabie Industries · for Krish, Augrade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4846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DXF_Primitive_to_Polygon · gnn-plan-setup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frame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Augrade is a fixed-point iteration problem with explicit, weak, discrete boundary conditions.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14600"/>
            <a:ext cx="73152" cy="2103120"/>
          </a:xfrm>
          <a:prstGeom prst="rect">
            <a:avLst/>
          </a:prstGeom>
          <a:solidFill>
            <a:srgbClr val="C8761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 layer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Closure, winding, family scoping, provenance. Deterministic by construction. The take-home submission ships this layer.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251460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2514600"/>
            <a:ext cx="73152" cy="2103120"/>
          </a:xfrm>
          <a:prstGeom prst="rect">
            <a:avLst/>
          </a:prstGeom>
          <a:solidFill>
            <a:srgbClr val="3F6B4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residual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32461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consistency over typed graphs and calibrated edit proposals. GNN earns its keep here, where neighborhood context decides.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251460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B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2514600"/>
            <a:ext cx="73152" cy="2103120"/>
          </a:xfrm>
          <a:prstGeom prst="rect">
            <a:avLst/>
          </a:prstGeom>
          <a:solidFill>
            <a:srgbClr val="C8761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Validator boundary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00800" y="32461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weak, discrete checks (closure, containment, clearance) kept outside the learned stack so plasticity cannot drift the geometry.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is observer-relative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 the shape is known, the problem stops being “complex” and becomes mechanism.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154680" cy="23317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73152" cy="2331720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is not intrinsic to the problem.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FB7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the mismatch between a problem and an observer.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modeling task is to change the observer until the problem has shape.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1600200"/>
            <a:ext cx="4846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600200"/>
            <a:ext cx="73152" cy="100584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6916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complexity  —  measurable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9842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size &amp; density · entity entropy · rewrite variance · label noise · coverage residuals.</a:t>
            </a:r>
            <a:pPr indent="0" marL="0">
              <a:buNone/>
            </a:pPr>
            <a:r>
              <a:rPr lang="en-US" sz="11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Use metrics, sweeps, and ablations.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0" y="2788920"/>
            <a:ext cx="4846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2788920"/>
            <a:ext cx="73152" cy="1005840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2880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complexity  —  observable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31729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 · representation target · validator loop · expert priors · active context.</a:t>
            </a:r>
            <a:pPr indent="0" marL="0">
              <a:buNone/>
            </a:pPr>
            <a:r>
              <a:rPr lang="en-US" sz="11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Change the observer, then re-measure.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995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value compounds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224528"/>
            <a:ext cx="1536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4F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24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soup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39112" y="4407408"/>
            <a:ext cx="9144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0552" y="4224528"/>
            <a:ext cx="1536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76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30552" y="4224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66744" y="4407408"/>
            <a:ext cx="91440" cy="0"/>
          </a:xfrm>
          <a:prstGeom prst="line">
            <a:avLst/>
          </a:prstGeom>
          <a:noFill/>
          <a:ln w="19050">
            <a:solidFill>
              <a:srgbClr val="3F6B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58184" y="4224528"/>
            <a:ext cx="1536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F6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58184" y="4224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geometry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94376" y="4407408"/>
            <a:ext cx="91440" cy="0"/>
          </a:xfrm>
          <a:prstGeom prst="line">
            <a:avLst/>
          </a:prstGeom>
          <a:noFill/>
          <a:ln w="19050">
            <a:solidFill>
              <a:srgbClr val="3F6B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85816" y="4224528"/>
            <a:ext cx="153619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F6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85816" y="4224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reasoning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22008" y="4407408"/>
            <a:ext cx="9144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13448" y="4224528"/>
            <a:ext cx="1536192" cy="365760"/>
          </a:xfrm>
          <a:prstGeom prst="rect">
            <a:avLst/>
          </a:prstGeom>
          <a:solidFill>
            <a:srgbClr val="1B1D22"/>
          </a:solidFill>
          <a:ln w="12700">
            <a:solidFill>
              <a:srgbClr val="C876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13448" y="42245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6268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shared geometry between neural representation and model behavior; the system should expose and train against that geometry.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layers. The mechanism layer carries closure; the learned layer carries relations.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73152" cy="310896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002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61872" y="1600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loop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37560" y="1600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external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65960"/>
            <a:ext cx="73152" cy="310896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19659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19659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readout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37560" y="1965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edit proposals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331720"/>
            <a:ext cx="73152" cy="310896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3317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61872" y="2331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consistency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37560" y="23317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propagation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697480"/>
            <a:ext cx="73152" cy="310896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69748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61872" y="2697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memory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2697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low-label regime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063240"/>
            <a:ext cx="73152" cy="310896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30632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61872" y="30632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Pair-relation scorer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37560" y="30632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+ conformal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42900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429000"/>
            <a:ext cx="73152" cy="310896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34290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61872" y="34290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37560" y="34290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nodes + edges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79476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3794760"/>
            <a:ext cx="73152" cy="310896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" y="37947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61872" y="37947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formation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337560" y="3794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supervectors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160520"/>
            <a:ext cx="4206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4160520"/>
            <a:ext cx="73152" cy="310896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41605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261872" y="41605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perception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337560" y="4160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parser, snap, closure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34290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3429000"/>
            <a:ext cx="0" cy="1042416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19659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0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1965960"/>
            <a:ext cx="0" cy="1408176"/>
          </a:xfrm>
          <a:prstGeom prst="line">
            <a:avLst/>
          </a:prstGeom>
          <a:noFill/>
          <a:ln w="19050">
            <a:solidFill>
              <a:srgbClr val="3F6B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836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8368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 computation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exposes the mechanism;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58368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networks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rgbClr val="3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the geometry.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583680" y="3657600"/>
            <a:ext cx="2103120" cy="0"/>
          </a:xfrm>
          <a:prstGeom prst="line">
            <a:avLst/>
          </a:prstGeom>
          <a:noFill/>
          <a:ln w="6350">
            <a:solidFill>
              <a:srgbClr val="C9C2B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Lineage: Shi → Chern → fixed-point class theory → NMM/DDA. Deep Manifold names what we already built.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 &amp; mechanism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Supervector graph. Heterogeneous message passing. Deep-equilibrium friendly.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primitive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arcs, polylines, circles, hatches, text, dimensions, inserts.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supervector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faces, hatch boundaries, panel cells, candidate symbols, schedule tags.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face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rooms, shafts, terraces — anything bounded.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annotation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dimensions, leaders, colored marks. Layer name is provenance only.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edges &amp; mechanism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8745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near, points_to, labels, inside, bounds, opens_into, </a:t>
            </a:r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same_symbol_family, same_schedule_tag, conflicts_with,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parallel_offset, continuation, containment, duplicate_footprint.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Mechanism: </a:t>
            </a:r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heterogeneous message passing with relation-typed messages, R-rounds ≈ relation diameter (2–3 for floor plans). </a:t>
            </a:r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for baseline; GATv2 for small-attention; PNA only when a relation justifies principal-neighborhood aggregation. Each round is a fixed-point iteration step.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8138160" cy="502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97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87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Pool for geometry, tag for provenance.  </a:t>
            </a:r>
            <a:pPr indent="0" marL="0">
              <a:buNone/>
            </a:pPr>
            <a:r>
              <a:rPr lang="en-US" sz="120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 decomposition: ‖f(x) − x‖² + λ g(θ). Pool collapses rewrite-equivalent inputs; tag preserves drafter intent as a side channel.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Rewrites: stationary equivalence classes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authored rewrites. Five coupled rings the scorer is asked to collapse.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783080" y="1828800"/>
            <a:ext cx="1188720" cy="1188720"/>
          </a:xfrm>
          <a:prstGeom prst="ellipse">
            <a:avLst/>
          </a:prstGeom>
          <a:solidFill>
            <a:srgbClr val="C8761A">
              <a:alpha val="20000"/>
            </a:srgbClr>
          </a:solidFill>
          <a:ln w="19050">
            <a:solidFill>
              <a:srgbClr val="C8761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13716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collinear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61385" y="2176309"/>
            <a:ext cx="1188720" cy="1188720"/>
          </a:xfrm>
          <a:prstGeom prst="ellipse">
            <a:avLst/>
          </a:prstGeom>
          <a:solidFill>
            <a:srgbClr val="3F6B4A">
              <a:alpha val="20000"/>
            </a:srgbClr>
          </a:solidFill>
          <a:ln w="19050">
            <a:solidFill>
              <a:srgbClr val="3F6B4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0429" y="23193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78689" y="2738591"/>
            <a:ext cx="1188720" cy="1188720"/>
          </a:xfrm>
          <a:prstGeom prst="ellipse">
            <a:avLst/>
          </a:prstGeom>
          <a:solidFill>
            <a:srgbClr val="C8761A">
              <a:alpha val="20000"/>
            </a:srgbClr>
          </a:solidFill>
          <a:ln w="19050">
            <a:solidFill>
              <a:srgbClr val="C8761A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2166" y="38528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jitter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87471" y="2738591"/>
            <a:ext cx="1188720" cy="1188720"/>
          </a:xfrm>
          <a:prstGeom prst="ellipse">
            <a:avLst/>
          </a:prstGeom>
          <a:solidFill>
            <a:srgbClr val="3F6B4A">
              <a:alpha val="20000"/>
            </a:srgbClr>
          </a:solidFill>
          <a:ln w="19050">
            <a:solidFill>
              <a:srgbClr val="3F6B4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9754" y="38528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04775" y="2176309"/>
            <a:ext cx="1188720" cy="1188720"/>
          </a:xfrm>
          <a:prstGeom prst="ellipse">
            <a:avLst/>
          </a:prstGeom>
          <a:solidFill>
            <a:srgbClr val="C8761A">
              <a:alpha val="20000"/>
            </a:srgbClr>
          </a:solidFill>
          <a:ln w="19050">
            <a:solidFill>
              <a:srgbClr val="C8761A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491" y="23193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hatch 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measures which rings have collapsed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rewrite is a categorical equivalence on authored convention, not a Euclidean group action.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generate the stationary manifold the scorer must absorb. Score variance under M4 across rewrite kinds quantifies which sub-rings have collapsed and which haven’t.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Operationalized as auxiliary loss: </a:t>
            </a:r>
            <a:pPr indent="0" marL="0">
              <a:buNone/>
            </a:pPr>
            <a:r>
              <a:rPr lang="en-US" sz="11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L_inv = 𝔼_g ‖f(x) − f(g(x))‖² </a:t>
            </a:r>
            <a:pPr indent="0" marL="0">
              <a:buNone/>
            </a:pPr>
            <a:r>
              <a:rPr lang="en-US" sz="11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Phase 4.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— the simple pipeline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phases. Each phase is one DM boundary regime.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80360" y="1600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0" y="1600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03720" y="1600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regime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8229600" cy="0"/>
          </a:xfrm>
          <a:prstGeom prst="line">
            <a:avLst/>
          </a:prstGeom>
          <a:noFill/>
          <a:ln w="9525">
            <a:solidFill>
              <a:srgbClr val="C9C2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659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659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export, deterministic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1965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+ M2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0372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(no learning)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423160"/>
            <a:ext cx="8229600" cy="41148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231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alignment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8803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8803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2880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pair-relation baseline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80360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calibrated BCE + conformal head per relation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0" y="2880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sparse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/ weak fixed-point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337560"/>
            <a:ext cx="8229600" cy="41148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3375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3337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 over rewrite orbits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8036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InfoNCE on (x, g(x)) positives; random negatives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3337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encoder + head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3337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/ weak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7947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7947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34440" y="3794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GNN supervised relations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80360" y="3794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BCE per relation + L_inv = 𝔼ₙ‖f(x) − f(g(x))‖²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0" y="3794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(GraphSAGE/GATv2)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/ intended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4251960"/>
            <a:ext cx="8229600" cy="41148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2519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234440" y="4251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edit proposals under validator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80360" y="4251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validator-accepts ∧ minimal-edit-cost (REINFORCE/GRPO)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4251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→ M7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4251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/ weak / discrete (perturbed)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we want to dress it up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components only when the simple pipeline shows a residual the new component is designed for.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276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layer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00200" y="16276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Equivariant message passing (GATr-style multivector or ASEN-style permutation base + symmetry-breaking input)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0840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rewrite orbits resist L_inv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13055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3055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head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00200" y="213055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Hopfield / dense associative memory over supervector embeddings (Kafraj-Krotov)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20840" y="21305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carrier-style families recur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63347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3347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retrieval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00200" y="263347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Matryoshka graph embeddings — one representation, many product surfaces (32d cache · 256d routing · 512d offline)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20840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size becomes a product knob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13639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363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Above M5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00200" y="313639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autoencoder bridge → tagged readout against codes/materials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20840" y="31363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becomes a deliverable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63931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393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generative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00200" y="363931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or autoregressive completion head for the inverse problem (plumbing inside a shell)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20840" y="36393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 (system inference) becomes the priority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14223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42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ranker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00200" y="41422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Bradley-Terry density-ratio head over frozen GNN embeddings (kalomaze pattern)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41422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acceptance is a 'know it when you see it' axis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State, cache &amp; context — GNN vs LLM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structural reason this representation matches the editing problem.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40233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4023360" cy="411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KV cache.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integral path of past attention. Reusable while prefix is unchanged.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grows O(n).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autoregressive prefix.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 append-only.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token edit invalidates cache from that point onward. Boundary-shift and fixed-point drift are unbounded by locality.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F6B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600200"/>
            <a:ext cx="4023360" cy="41148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GNN over typed graph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per-node embedding cache.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(sv_id, model_hash). Invalidate within L hops on graph mutation.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the L-hop receptive field.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token range. Bounded by graph locality, not by drawing size.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 local.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cascades = local re-message-passing. Fixed points are explicit (DEQ-GNN). Cheap to re-score during interactive use.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445760"/>
            <a:ext cx="8229600" cy="40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87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graph updates match edit propagation; foundation-model context handles global semantics; validators decide whether either one is allowed to act.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 ranker — the kalomaze move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linear head over a frozen GNN learns a density-ratio scorer for edit acceptance.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594360" cy="594360"/>
          </a:xfrm>
          <a:prstGeom prst="ellipse">
            <a:avLst/>
          </a:prstGeom>
          <a:solidFill>
            <a:srgbClr val="C876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Freeze the GNN after Phase 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10312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single [d → d] linear head on top with constant-sum BT logit. All discriminative capacity lives in W; the aggregator is fixed. ~16M params over a much smaller backbone than 8B-class LMs.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79192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862072"/>
            <a:ext cx="594360" cy="594360"/>
          </a:xfrm>
          <a:prstGeom prst="ellipse">
            <a:avLst/>
          </a:prstGeom>
          <a:solidFill>
            <a:srgbClr val="C8761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62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2770632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Strip-and-flip primitive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136392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 typed-action / carrier-style hint into the supervector pair before encoding (e.g., 'treat this hatch as wall mass'). Strip the hint before the BT head sees the embedding. Flip chosen/rejected polarity by carrier class.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12464"/>
            <a:ext cx="8229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95344"/>
            <a:ext cx="594360" cy="594360"/>
          </a:xfrm>
          <a:prstGeom prst="ellipse">
            <a:avLst/>
          </a:prstGeom>
          <a:solidFill>
            <a:srgbClr val="C8761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95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17320" y="380390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the chosen distribution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169664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spread of accepted-edit scores rather than unbounded margin. Class-balance over (relation type, drafter convention, common-vs-rare). Calibrated scalar for M6, with conformal review bands kept intact.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Continual learning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improves week-over-week — without retraining.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508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329184" cy="329184"/>
          </a:xfrm>
          <a:prstGeom prst="ellipse">
            <a:avLst/>
          </a:prstGeom>
          <a:solidFill>
            <a:srgbClr val="C876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output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supervector graph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1783080"/>
            <a:ext cx="1508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1920240"/>
            <a:ext cx="329184" cy="329184"/>
          </a:xfrm>
          <a:prstGeom prst="ellipse">
            <a:avLst/>
          </a:prstGeom>
          <a:solidFill>
            <a:srgbClr val="C8761A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+ uncertainty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4028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+ GNN, conformal bands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94760" y="1783080"/>
            <a:ext cx="1508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1920240"/>
            <a:ext cx="329184" cy="329184"/>
          </a:xfrm>
          <a:prstGeom prst="ellipse">
            <a:avLst/>
          </a:prstGeom>
          <a:solidFill>
            <a:srgbClr val="C8761A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8620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 weird cases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8620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carriers, validator failures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40680" y="1783080"/>
            <a:ext cx="1508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1920240"/>
            <a:ext cx="329184" cy="329184"/>
          </a:xfrm>
          <a:prstGeom prst="ellipse">
            <a:avLst/>
          </a:prstGeom>
          <a:solidFill>
            <a:srgbClr val="C8761A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review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3212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triage, not blanket label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86600" y="1783080"/>
            <a:ext cx="1508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1920240"/>
            <a:ext cx="329184" cy="329184"/>
          </a:xfrm>
          <a:prstGeom prst="ellipse">
            <a:avLst/>
          </a:prstGeom>
          <a:solidFill>
            <a:srgbClr val="C8761A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7804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+ verify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17804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· rules · memory · weights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Each iteration's residuals become the next iteration's labels — labels, rules, memory, weights all update.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AEC ISN'T IID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361188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3611880"/>
            <a:ext cx="54864" cy="96012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Codes version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8580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IBC, NEC, ADA, Title 24, IECC. State and local amendments multiply the surface. A 2018 baseline silently goes wrong.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" y="43708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M7 validator update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361188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0" y="3611880"/>
            <a:ext cx="54864" cy="96012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44" name="Text 42"/>
          <p:cNvSpPr/>
          <p:nvPr/>
        </p:nvSpPr>
        <p:spPr>
          <a:xfrm>
            <a:off x="356616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 drift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conventions, tag carriers, hatch-vs-outline preferences evolve faster than full retrain cycles.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566160" y="43708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rule mining back into the engine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63640" y="361188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63640" y="3611880"/>
            <a:ext cx="54864" cy="96012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conventions vary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44652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firm encodes legal and contractual intent in drafting standards. Same edit means different things across clients.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46520" y="43708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per-project labels + prototype memory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Text 51"/>
          <p:cNvSpPr/>
          <p:nvPr/>
        </p:nvSpPr>
        <p:spPr>
          <a:xfrm>
            <a:off x="685800" y="469087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Code change → validator update, not model retrain. </a:t>
            </a:r>
            <a:pPr indent="0" marL="0">
              <a:buNone/>
            </a:pPr>
            <a:r>
              <a:rPr lang="en-US" sz="1100" i="1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residual only learns the new rare cases the validator surfaces.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&amp; scaling — Prime Intellect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verifiers + Environments Hub + hosted prime-rl. Useful for one specific thing, not the whole stack.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73152" cy="301752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fits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Phase 5 search-space coverage.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M7 validators (closure, containment, clearance, duplicate-footprint) as a verifiers Environment. Dataset = annotated drawing + corrupted variants. Reward = validator-accepts ∧ minimal edit cost. Hosted prime-rl with LoRA for the typed-action policy.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Scale-out without infra cost.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pricing on a multi-tenant cluster, dedicated orchestrator per run. We run breadth experiments while the deterministic stack stays in our hands.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4023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691640"/>
            <a:ext cx="73152" cy="3017520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keep in-house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258568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Mechanism layer (M1–M3).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Closure, snap, supervector formation, graph export. The boundary-condition-camp commitment lives here.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Validators (M7).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deterministic. They become the verifier rubric for hosted RL — never the trained component.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Annotation loop.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review bands, expert feedback. Rule discovery flows back into the deterministic engine, not just into model weights.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Persistent edge in a world of SAI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generic cognition gets cheap, the edge moves to boundary conditions, memory, and the compiler loop.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73152" cy="2926080"/>
          </a:xfrm>
          <a:prstGeom prst="rect">
            <a:avLst/>
          </a:prstGeom>
          <a:solidFill>
            <a:srgbClr val="4A4F5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Commoditizes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cheap intelligence eats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scaffolding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search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training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rewrite generation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boilerplate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planning agents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627632"/>
            <a:ext cx="73152" cy="2926080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 only we can supply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drawing history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&amp; rejection traces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definitions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false-merge policy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jurisdiction constraints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per-firm drafting conventions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object IDs &amp; graph memory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627632"/>
            <a:ext cx="73152" cy="292608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stronger with use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matryoshka graph embeddings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memory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teaching models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supervectors &amp; motifs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compiled into engine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environments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auto-apply policy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8229600" cy="2011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6634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Borrow model capacity  ·  </a:t>
            </a:r>
            <a:pPr indent="0" marL="0">
              <a:buNone/>
            </a:pPr>
            <a:r>
              <a:rPr lang="en-US" sz="1050" i="1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problem shape.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weeks to substrate. Twelve months to compounded learning.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WEEKS  —  ship the substrate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W1–2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export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manifest, stable ids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38528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Text 9"/>
          <p:cNvSpPr/>
          <p:nvPr/>
        </p:nvSpPr>
        <p:spPr>
          <a:xfrm>
            <a:off x="1938528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W3–4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38528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38528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 to graph + alignment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74136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" name="Text 13"/>
          <p:cNvSpPr/>
          <p:nvPr/>
        </p:nvSpPr>
        <p:spPr>
          <a:xfrm>
            <a:off x="3374136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W5–6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74136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baseline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4136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bands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9744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W7–8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9744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 tests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stability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45352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3" name="Text 21"/>
          <p:cNvSpPr/>
          <p:nvPr/>
        </p:nvSpPr>
        <p:spPr>
          <a:xfrm>
            <a:off x="6245352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W9–10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45352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GNN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45352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residual exists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80960" y="1828800"/>
            <a:ext cx="1371600" cy="29260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W11–12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80960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bundle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80960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2834640"/>
            <a:ext cx="8229600" cy="0"/>
          </a:xfrm>
          <a:prstGeom prst="line">
            <a:avLst/>
          </a:prstGeom>
          <a:noFill/>
          <a:ln w="6350">
            <a:solidFill>
              <a:srgbClr val="C9C2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907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MONTH-3 GATE  </a:t>
            </a:r>
            <a:pPr indent="0" marL="0"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relation baseline calibrated · rewrite report exists · GNN beats M3 on one context-heavy slice · validators still own truth.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310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0–12  —  the year arc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361188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611880"/>
            <a:ext cx="54864" cy="868680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 Months 0–3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" y="3867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Substrate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graph export · M2 annotation alignment · M3 calibrated baseline.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06040" y="361188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6040" y="3611880"/>
            <a:ext cx="54864" cy="86868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40" name="Text 38"/>
          <p:cNvSpPr/>
          <p:nvPr/>
        </p:nvSpPr>
        <p:spPr>
          <a:xfrm>
            <a:off x="2752344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 Months 4–6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52344" y="3867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learning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752344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rewrite invariance · M5 small GNN · prototype memory tests.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361188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3611880"/>
            <a:ext cx="54864" cy="86868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45" name="Text 43"/>
          <p:cNvSpPr/>
          <p:nvPr/>
        </p:nvSpPr>
        <p:spPr>
          <a:xfrm>
            <a:off x="4855464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 Months 7–9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55464" y="3867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 proposals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55464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typed readout · validator deltas · workflow-exhaust labels.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12280" y="361188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12280" y="3611880"/>
            <a:ext cx="54864" cy="868680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50" name="Text 48"/>
          <p:cNvSpPr/>
          <p:nvPr/>
        </p:nvSpPr>
        <p:spPr>
          <a:xfrm>
            <a:off x="6958584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4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 Months 10–12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58584" y="3867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hardening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58584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cache path · compute profiling · cross-project eval.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2920" y="4617720"/>
            <a:ext cx="8229600" cy="164592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4" name="Text 52"/>
          <p:cNvSpPr/>
          <p:nvPr/>
        </p:nvSpPr>
        <p:spPr>
          <a:xfrm>
            <a:off x="594360" y="46177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Branch by evidence  ·  </a:t>
            </a:r>
            <a:pPr indent="0" marL="0">
              <a:buNone/>
            </a:pPr>
            <a:r>
              <a:rPr lang="en-US" sz="90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clean → GNN path  ·  labels noisy → annotation/conversion first  ·  residuals rich → strengthen validators  ·  typed actions stable → hosted RL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+ compute — accelerate, then pace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compute where iteration is cheap. Slow down where semantics become product truth.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45920"/>
            <a:ext cx="73152" cy="292608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105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Accelerate hard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57984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scaffolds for exporters, parsers, manifests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feature inventories and ablation sweeps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rewrite generation at scale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overlay QA screenshots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clustering and label-queue triage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GPU bursts for GNN and memory heads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645920"/>
            <a:ext cx="73152" cy="2926080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105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Pace intentionally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157984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ontology: what counts as object, annotation, edit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definitions and acceptable residuals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false-merge thresholds and review-band policy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semantics: schedule tag vs correction mark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envelope: interactive CPU vs batch GPU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trust: which edits may auto-apply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6459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645920"/>
            <a:ext cx="73152" cy="292608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8105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by evidence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157984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wins → do not force GNN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wins context slice → add relation propagation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weak → invest in annotation alignment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variance high → fix quotient, not architecture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rich → verifier/search branch later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bottleneck → custom batched path, not earlier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663440"/>
            <a:ext cx="8229600" cy="20116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6634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Acceleration rule  ·  </a:t>
            </a:r>
            <a:pPr indent="0" marL="0">
              <a:buNone/>
            </a:pPr>
            <a:r>
              <a:rPr lang="en-US" sz="1050" i="1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compute on cheap falsification; spend human time on irreversible definitions.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 for the call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want to learn from your end of the table.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authored rewrites are in scope for invariance: collinear split/merge, carrier swap, snap perturbation, schema remap, hatch-vs-outline carrier?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annotation pipeline produce: primitive-level, supervector, component, relation, edit-event, or workflow trace?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workflow exhaust captured today — revision history, validator residuals, designer comments, time-to-fix? Anything enumerable feeds Phase 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envelope: interactive CPU loop, batch GPU review, both? Decides PyG-flexible vs custom batched-tensor paths.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constraints are first-class: code/compliance, structural, MEP clearance, fire-rating, accessibility? Validator boundary should be enumerated, not hand-waved.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251960"/>
            <a:ext cx="274320" cy="274320"/>
          </a:xfrm>
          <a:prstGeom prst="ellipse">
            <a:avLst/>
          </a:prstGeom>
          <a:solidFill>
            <a:srgbClr val="E9CFA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Appetite for hosted RL infrastructure (Prime Intellect Lab) for Phase 5 search, or all-in-house?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457200"/>
            <a:ext cx="91440" cy="54864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3" name="Shape 1"/>
          <p:cNvSpPr/>
          <p:nvPr/>
        </p:nvSpPr>
        <p:spPr>
          <a:xfrm>
            <a:off x="8641080" y="9601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4" name="Shape 2"/>
          <p:cNvSpPr/>
          <p:nvPr/>
        </p:nvSpPr>
        <p:spPr>
          <a:xfrm>
            <a:off x="8641080" y="146304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5" name="Shape 3"/>
          <p:cNvSpPr/>
          <p:nvPr/>
        </p:nvSpPr>
        <p:spPr>
          <a:xfrm>
            <a:off x="8641080" y="196596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246888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7" name="Shape 5"/>
          <p:cNvSpPr/>
          <p:nvPr/>
        </p:nvSpPr>
        <p:spPr>
          <a:xfrm>
            <a:off x="8641080" y="297180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8" name="Shape 6"/>
          <p:cNvSpPr/>
          <p:nvPr/>
        </p:nvSpPr>
        <p:spPr>
          <a:xfrm>
            <a:off x="8641080" y="347472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9" name="Shape 7"/>
          <p:cNvSpPr/>
          <p:nvPr/>
        </p:nvSpPr>
        <p:spPr>
          <a:xfrm>
            <a:off x="8641080" y="3977640"/>
            <a:ext cx="91440" cy="54864"/>
          </a:xfrm>
          <a:prstGeom prst="rect">
            <a:avLst/>
          </a:prstGeom>
          <a:solidFill>
            <a:srgbClr val="3A3D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E9CF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005840"/>
            <a:ext cx="146304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500" b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 smallest stack </a:t>
            </a:r>
            <a:pPr indent="0" marL="0">
              <a:spcAft>
                <a:spcPts val="600"/>
              </a:spcAft>
              <a:buNone/>
            </a:pPr>
            <a:r>
              <a:rPr lang="en-US" sz="2500" dirty="0">
                <a:solidFill>
                  <a:srgbClr val="BFB7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survives contact with the product loop:</a:t>
            </a:r>
            <a:endParaRPr lang="en-US" sz="2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500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endParaRPr lang="en-US" sz="2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500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reduce learning complexity, </a:t>
            </a:r>
            <a:pPr indent="0" marL="0">
              <a:spcAft>
                <a:spcPts val="600"/>
              </a:spcAft>
              <a:buNone/>
            </a:pPr>
            <a:r>
              <a:rPr lang="en-US" sz="2500" b="1" i="1" dirty="0">
                <a:solidFill>
                  <a:srgbClr val="3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learn stable latent geometries, </a:t>
            </a:r>
            <a:pPr indent="0" marL="0">
              <a:spcAft>
                <a:spcPts val="600"/>
              </a:spcAft>
              <a:buNone/>
            </a:pPr>
            <a:r>
              <a:rPr lang="en-US" sz="2500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then </a:t>
            </a:r>
            <a:pPr indent="0" marL="0">
              <a:spcAft>
                <a:spcPts val="600"/>
              </a:spcAft>
              <a:buNone/>
            </a:pPr>
            <a:r>
              <a:rPr lang="en-US" sz="2500" b="1" i="1" dirty="0">
                <a:solidFill>
                  <a:srgbClr val="C87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 generatively over edit, state, and action space.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0"/>
          </a:xfrm>
          <a:prstGeom prst="line">
            <a:avLst/>
          </a:prstGeom>
          <a:noFill/>
          <a:ln w="6350">
            <a:solidFill>
              <a:srgbClr val="3A3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smartest model — the environment in which smart models become useful, trusted, and compounding.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2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 frame ships;  </a:t>
            </a:r>
            <a:pPr indent="0" marL="0">
              <a:buNone/>
            </a:pPr>
            <a:r>
              <a:rPr lang="en-US" sz="1900" b="1" i="1" dirty="0">
                <a:solidFill>
                  <a:srgbClr val="C87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geometry compounds.</a:t>
            </a:r>
            <a:endParaRPr lang="en-US" sz="1900" dirty="0"/>
          </a:p>
          <a:p>
            <a:pPr indent="0" marL="0" algn="l">
              <a:buNone/>
            </a:pPr>
            <a:r>
              <a:rPr lang="en-US" sz="1400" i="1" dirty="0">
                <a:solidFill>
                  <a:srgbClr val="BFB7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discoveries compile back into the engine.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 Mabie · Mabie Industries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4846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DXF_Primitive_to_Polygon · gnn-plan-setup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4A4F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loops: make review worth doing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0"/>
          </a:xfrm>
          <a:prstGeom prst="line">
            <a:avLst/>
          </a:prstGeom>
          <a:noFill/>
          <a:ln w="19050">
            <a:solidFill>
              <a:srgbClr val="C87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 loop is not a tax. It is the product surface where expertise becomes data.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73152" cy="2926080"/>
          </a:xfrm>
          <a:prstGeom prst="rect">
            <a:avLst/>
          </a:prstGeom>
          <a:solidFill>
            <a:srgbClr val="4A4F5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sees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review surface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overlay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hypothesis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residual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past cases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approve / reject / repair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why-it-matters explanation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627632"/>
            <a:ext cx="73152" cy="2926080"/>
          </a:xfrm>
          <a:prstGeom prst="rect">
            <a:avLst/>
          </a:prstGeom>
          <a:solidFill>
            <a:srgbClr val="C8761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captures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persistent memory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/ preference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trace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delta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before / after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time-to-fix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shift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/ rule candidate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627632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2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627632"/>
            <a:ext cx="73152" cy="2926080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792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improves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loop iteration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2359152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repeated errors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retrieval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conformal bands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prototype memory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deterministic rules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auto-apply threshold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555000"/>
            <a:ext cx="8229600" cy="2913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555000"/>
            <a:ext cx="8046720" cy="29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Engagement is an ML systems variable:  </a:t>
            </a:r>
            <a:pPr indent="0" marL="0">
              <a:buNone/>
            </a:pPr>
            <a:r>
              <a:rPr lang="en-US" sz="950" i="1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DX creates better labels; better labels create better automation; better automation earns more trust.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Augrade · GNN strategy · M. Mabie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Augrade — GNN Strategy</dc:title>
  <dc:subject>PptxGenJS Presentation</dc:subject>
  <dc:creator>Malachi Mabie</dc:creator>
  <cp:lastModifiedBy>Malachi Mabie</cp:lastModifiedBy>
  <cp:revision>1</cp:revision>
  <dcterms:created xsi:type="dcterms:W3CDTF">2026-05-08T06:18:51Z</dcterms:created>
  <dcterms:modified xsi:type="dcterms:W3CDTF">2026-05-08T06:18:51Z</dcterms:modified>
</cp:coreProperties>
</file>