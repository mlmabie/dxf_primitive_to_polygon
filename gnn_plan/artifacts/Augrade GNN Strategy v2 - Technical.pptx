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3.xml" ContentType="application/vnd.openxmlformats-officedocument.presentationml.slide+xml"/>
  <Override PartName="/ppt/slides/slide15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5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3.xml"/><Relationship Id="rId15" Type="http://schemas.openxmlformats.org/officeDocument/2006/relationships/slide" Target="slides/slide15.xml"/><Relationship Id="rId17" Type="http://schemas.openxmlformats.org/officeDocument/2006/relationships/slide" Target="slides/slide17.xml"/><Relationship Id="rId18" Type="http://schemas.openxmlformats.org/officeDocument/2006/relationships/slide" Target="slides/slide18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D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57200"/>
            <a:ext cx="91440" cy="54864"/>
          </a:xfrm>
          <a:prstGeom prst="rect">
            <a:avLst/>
          </a:prstGeom>
          <a:solidFill>
            <a:srgbClr val="3A3D44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411480" y="960120"/>
            <a:ext cx="91440" cy="54864"/>
          </a:xfrm>
          <a:prstGeom prst="rect">
            <a:avLst/>
          </a:prstGeom>
          <a:solidFill>
            <a:srgbClr val="3A3D44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411480" y="1463040"/>
            <a:ext cx="91440" cy="54864"/>
          </a:xfrm>
          <a:prstGeom prst="rect">
            <a:avLst/>
          </a:prstGeom>
          <a:solidFill>
            <a:srgbClr val="3A3D44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11480" y="1965960"/>
            <a:ext cx="91440" cy="54864"/>
          </a:xfrm>
          <a:prstGeom prst="rect">
            <a:avLst/>
          </a:prstGeom>
          <a:solidFill>
            <a:srgbClr val="3A3D44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11480" y="2468880"/>
            <a:ext cx="91440" cy="54864"/>
          </a:xfrm>
          <a:prstGeom prst="rect">
            <a:avLst/>
          </a:prstGeom>
          <a:solidFill>
            <a:srgbClr val="3A3D44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11480" y="2971800"/>
            <a:ext cx="91440" cy="54864"/>
          </a:xfrm>
          <a:prstGeom prst="rect">
            <a:avLst/>
          </a:prstGeom>
          <a:solidFill>
            <a:srgbClr val="3A3D44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411480" y="3474720"/>
            <a:ext cx="91440" cy="54864"/>
          </a:xfrm>
          <a:prstGeom prst="rect">
            <a:avLst/>
          </a:prstGeom>
          <a:solidFill>
            <a:srgbClr val="3A3D44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411480" y="3977640"/>
            <a:ext cx="91440" cy="54864"/>
          </a:xfrm>
          <a:prstGeom prst="rect">
            <a:avLst/>
          </a:prstGeom>
          <a:solidFill>
            <a:srgbClr val="C8761A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777240" y="5029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0" kern="0" dirty="0">
                <a:solidFill>
                  <a:srgbClr val="E9C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AUGRADE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77240" y="1097280"/>
            <a:ext cx="7772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2EA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Fixed-point iteration</a:t>
            </a:r>
            <a:endParaRPr lang="en-US" sz="4800" dirty="0"/>
          </a:p>
          <a:p>
            <a:pPr indent="0" marL="0">
              <a:buNone/>
            </a:pPr>
            <a:r>
              <a:rPr lang="en-US" sz="4800" b="1" dirty="0">
                <a:solidFill>
                  <a:srgbClr val="F2EA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 the system frame.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777240" y="333756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BFB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GNN is one mechanism choice inside that frame; the frame is what ships.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77240" y="3931920"/>
            <a:ext cx="1463040" cy="0"/>
          </a:xfrm>
          <a:prstGeom prst="line">
            <a:avLst/>
          </a:prstGeom>
          <a:noFill/>
          <a:ln w="19050">
            <a:solidFill>
              <a:srgbClr val="C8761A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77240" y="4041648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FB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Malachi Mabie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FB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Mabie Industries · for Krish, Augrade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0" y="484632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DXF_Primitive_to_Polygon · gnn_plan/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000" kern="0" dirty="0">
                <a:solidFill>
                  <a:srgbClr val="4A4F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stack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914400" cy="0"/>
          </a:xfrm>
          <a:prstGeom prst="line">
            <a:avLst/>
          </a:prstGeom>
          <a:noFill/>
          <a:ln w="19050">
            <a:solidFill>
              <a:srgbClr val="C8761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D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Eight layers. The mechanism layer carries closure; the learned layer carries relations.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42062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C9C2B7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48640" y="1600200"/>
            <a:ext cx="73152" cy="310896"/>
          </a:xfrm>
          <a:prstGeom prst="rect">
            <a:avLst/>
          </a:prstGeom>
          <a:solidFill>
            <a:srgbClr val="C8761A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13232" y="1600200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F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M8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261872" y="160020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1D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 loop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337560" y="160020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deterministic, external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1965960"/>
            <a:ext cx="42062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C9C2B7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548640" y="1965960"/>
            <a:ext cx="73152" cy="310896"/>
          </a:xfrm>
          <a:prstGeom prst="rect">
            <a:avLst/>
          </a:prstGeom>
          <a:solidFill>
            <a:srgbClr val="3F6B4A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713232" y="1965960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F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M7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261872" y="196596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1D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readout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337560" y="196596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edit proposals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2331720"/>
            <a:ext cx="42062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C9C2B7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548640" y="2331720"/>
            <a:ext cx="73152" cy="310896"/>
          </a:xfrm>
          <a:prstGeom prst="rect">
            <a:avLst/>
          </a:prstGeom>
          <a:solidFill>
            <a:srgbClr val="3F6B4A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713232" y="2331720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F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M6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261872" y="233172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1D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GNN consistency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337560" y="233172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 propagation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2697480"/>
            <a:ext cx="42062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C9C2B7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548640" y="2697480"/>
            <a:ext cx="73152" cy="310896"/>
          </a:xfrm>
          <a:prstGeom prst="rect">
            <a:avLst/>
          </a:prstGeom>
          <a:solidFill>
            <a:srgbClr val="3F6B4A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713232" y="2697480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F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M5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261872" y="269748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1D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/ memory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337560" y="269748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low-label regime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" y="3063240"/>
            <a:ext cx="42062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C9C2B7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548640" y="3063240"/>
            <a:ext cx="73152" cy="310896"/>
          </a:xfrm>
          <a:prstGeom prst="rect">
            <a:avLst/>
          </a:prstGeom>
          <a:solidFill>
            <a:srgbClr val="3F6B4A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713232" y="3063240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F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M4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261872" y="306324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1D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Pair-relation scorer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3337560" y="306324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 + conformal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48640" y="3429000"/>
            <a:ext cx="42062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C9C2B7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548640" y="3429000"/>
            <a:ext cx="73152" cy="310896"/>
          </a:xfrm>
          <a:prstGeom prst="rect">
            <a:avLst/>
          </a:prstGeom>
          <a:solidFill>
            <a:srgbClr val="C8761A"/>
          </a:solidFill>
          <a:ln/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713232" y="3429000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F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M3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261872" y="342900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1D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construction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3337560" y="342900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nodes + edges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48640" y="3794760"/>
            <a:ext cx="42062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C9C2B7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548640" y="3794760"/>
            <a:ext cx="73152" cy="310896"/>
          </a:xfrm>
          <a:prstGeom prst="rect">
            <a:avLst/>
          </a:prstGeom>
          <a:solidFill>
            <a:srgbClr val="C8761A"/>
          </a:solidFill>
          <a:ln/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713232" y="3794760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F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M2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261872" y="379476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1D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formation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3337560" y="379476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supervectors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48640" y="4160520"/>
            <a:ext cx="42062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C9C2B7"/>
            </a:solidFill>
            <a:prstDash val="solid"/>
          </a:ln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>
            <a:off x="548640" y="4160520"/>
            <a:ext cx="73152" cy="310896"/>
          </a:xfrm>
          <a:prstGeom prst="rect">
            <a:avLst/>
          </a:prstGeom>
          <a:solidFill>
            <a:srgbClr val="C8761A"/>
          </a:solidFill>
          <a:ln/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713232" y="4160520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F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M1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1261872" y="416052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1D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 perception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3337560" y="416052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parser, snap, closure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892040" y="3429000"/>
            <a:ext cx="914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C87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</a:t>
            </a:r>
            <a:endParaRPr lang="en-US" sz="1000" dirty="0"/>
          </a:p>
          <a:p>
            <a:pPr indent="0" marL="0">
              <a:buNone/>
            </a:pPr>
            <a:r>
              <a:rPr lang="en-US" sz="1000" b="1" i="1" dirty="0">
                <a:solidFill>
                  <a:srgbClr val="C87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846320" y="3429000"/>
            <a:ext cx="0" cy="1042416"/>
          </a:xfrm>
          <a:prstGeom prst="line">
            <a:avLst/>
          </a:prstGeom>
          <a:noFill/>
          <a:ln w="19050">
            <a:solidFill>
              <a:srgbClr val="C8761A"/>
            </a:solidFill>
            <a:prstDash val="solid"/>
          </a:ln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4892040" y="1965960"/>
            <a:ext cx="914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3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</a:t>
            </a:r>
            <a:endParaRPr lang="en-US" sz="1000" dirty="0"/>
          </a:p>
          <a:p>
            <a:pPr indent="0" marL="0">
              <a:buNone/>
            </a:pPr>
            <a:r>
              <a:rPr lang="en-US" sz="1000" b="1" i="1" dirty="0">
                <a:solidFill>
                  <a:srgbClr val="3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846320" y="1965960"/>
            <a:ext cx="0" cy="1408176"/>
          </a:xfrm>
          <a:prstGeom prst="line">
            <a:avLst/>
          </a:prstGeom>
          <a:noFill/>
          <a:ln w="19050">
            <a:solidFill>
              <a:srgbClr val="3F6B4A"/>
            </a:solidFill>
            <a:prstDash val="solid"/>
          </a:ln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4892040" y="16002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C87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583680" y="16002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600" kern="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as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6583680" y="18745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D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Numerical computation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B1D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exposes the mechanism;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6583680" y="269748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3F6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neural networks</a:t>
            </a:r>
            <a:endParaRPr lang="en-US" sz="1400" dirty="0"/>
          </a:p>
          <a:p>
            <a:pPr indent="0" marL="0">
              <a:buNone/>
            </a:pPr>
            <a:r>
              <a:rPr lang="en-US" sz="1400" b="1" i="1" dirty="0">
                <a:solidFill>
                  <a:srgbClr val="3F6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 the geometry.</a:t>
            </a:r>
            <a:endParaRPr lang="en-US" sz="1400" dirty="0"/>
          </a:p>
        </p:txBody>
      </p:sp>
      <p:sp>
        <p:nvSpPr>
          <p:cNvPr id="53" name="Shape 51"/>
          <p:cNvSpPr/>
          <p:nvPr/>
        </p:nvSpPr>
        <p:spPr>
          <a:xfrm>
            <a:off x="6583680" y="3657600"/>
            <a:ext cx="2103120" cy="0"/>
          </a:xfrm>
          <a:prstGeom prst="line">
            <a:avLst/>
          </a:prstGeom>
          <a:noFill/>
          <a:ln w="6350">
            <a:solidFill>
              <a:srgbClr val="C9C2B7"/>
            </a:solidFill>
            <a:prstDash val="solid"/>
          </a:ln>
        </p:spPr>
        <p:txBody>
          <a:bodyPr/>
          <a:p/>
        </p:txBody>
      </p:sp>
      <p:sp>
        <p:nvSpPr>
          <p:cNvPr id="54" name="Text 52"/>
          <p:cNvSpPr/>
          <p:nvPr/>
        </p:nvSpPr>
        <p:spPr>
          <a:xfrm>
            <a:off x="6583680" y="374904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Lineage: Shi → Chern → fixed-point class theory → NMM/DDA. Deep Manifold names what we already built.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Augrade · GNN technical · M. Mabie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8229600" y="48463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000" kern="0" dirty="0">
                <a:solidFill>
                  <a:srgbClr val="4A4F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Representation &amp; mechanism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914400" cy="0"/>
          </a:xfrm>
          <a:prstGeom prst="line">
            <a:avLst/>
          </a:prstGeom>
          <a:noFill/>
          <a:ln w="19050">
            <a:solidFill>
              <a:srgbClr val="C8761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D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Supervector graph. Heterogeneous message passing. Deep-equilibrium friendly.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C87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874520"/>
            <a:ext cx="40233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primitive  </a:t>
            </a:r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lines, arcs, polylines, circles, hatches, text, dimensions, inserts.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supervector  </a:t>
            </a:r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 faces, hatch boundaries, panel cells, candidate symbols, schedule tags.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face  </a:t>
            </a:r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rooms, shafts, terraces — anything bounded.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annotation  </a:t>
            </a:r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text, dimensions, leaders, colored marks. Layer name is provenance only.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754880" y="16002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3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edges &amp; mechanism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754880" y="1874520"/>
            <a:ext cx="3931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near, points_to, labels, inside, bounds, opens_into, </a:t>
            </a:r>
            <a:pPr indent="0" marL="0">
              <a:buNone/>
            </a:pPr>
            <a:r>
              <a:rPr lang="en-US" sz="11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same_symbol_family, same_schedule_tag, conflicts_with, 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parallel_offset, continuation, containment, duplicate_footprint.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1B1D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Mechanism: </a:t>
            </a:r>
            <a:pPr indent="0" marL="0">
              <a:buNone/>
            </a:pPr>
            <a:r>
              <a:rPr lang="en-US" sz="115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heterogeneous message passing with relation-typed messages, R-rounds ≈ relation diameter (2–3 for floor plans). </a:t>
            </a:r>
            <a:pPr indent="0" marL="0">
              <a:buNone/>
            </a:pPr>
            <a:r>
              <a:rPr lang="en-US" sz="115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GraphSAGE for baseline; GATv2 for small-attention; PNA only when a relation justifies principal-neighborhood aggregation. Each round is a fixed-point iteration step.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4251960"/>
            <a:ext cx="8138160" cy="502920"/>
          </a:xfrm>
          <a:prstGeom prst="rect">
            <a:avLst/>
          </a:prstGeom>
          <a:solidFill>
            <a:srgbClr val="1B1D22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777240" y="429768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C876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 xml:space="preserve">Pool for geometry, tag for provenance.  </a:t>
            </a:r>
            <a:pPr indent="0" marL="0">
              <a:buNone/>
            </a:pPr>
            <a:r>
              <a:rPr lang="en-US" sz="1200" dirty="0">
                <a:solidFill>
                  <a:srgbClr val="E9E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Lagrangian decomposition: ‖f(x) − x‖² + λ g(θ). Pool collapses rewrite-equivalent inputs; tag preserves drafter intent as a side channel.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Augrade · GNN technical · M. Mabie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229600" y="48463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000" kern="0" dirty="0">
                <a:solidFill>
                  <a:srgbClr val="4A4F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Rewrites: stationary equivalence classes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914400" cy="0"/>
          </a:xfrm>
          <a:prstGeom prst="line">
            <a:avLst/>
          </a:prstGeom>
          <a:noFill/>
          <a:ln w="19050">
            <a:solidFill>
              <a:srgbClr val="C8761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D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authored rewrites. Five coupled rings the scorer is asked to collapse.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1783080" y="1828800"/>
            <a:ext cx="1188720" cy="1188720"/>
          </a:xfrm>
          <a:prstGeom prst="ellipse">
            <a:avLst/>
          </a:prstGeom>
          <a:solidFill>
            <a:srgbClr val="C8761A">
              <a:alpha val="20000"/>
            </a:srgbClr>
          </a:solidFill>
          <a:ln w="19050">
            <a:solidFill>
              <a:srgbClr val="C8761A">
                <a:alpha val="7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965960" y="137160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collinear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split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261385" y="2176309"/>
            <a:ext cx="1188720" cy="1188720"/>
          </a:xfrm>
          <a:prstGeom prst="ellipse">
            <a:avLst/>
          </a:prstGeom>
          <a:solidFill>
            <a:srgbClr val="3F6B4A">
              <a:alpha val="20000"/>
            </a:srgbClr>
          </a:solidFill>
          <a:ln w="19050">
            <a:solidFill>
              <a:srgbClr val="3F6B4A">
                <a:alpha val="7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270429" y="2319352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carrier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swap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078689" y="2738591"/>
            <a:ext cx="1188720" cy="1188720"/>
          </a:xfrm>
          <a:prstGeom prst="ellipse">
            <a:avLst/>
          </a:prstGeom>
          <a:solidFill>
            <a:srgbClr val="C8761A">
              <a:alpha val="20000"/>
            </a:srgbClr>
          </a:solidFill>
          <a:ln w="19050">
            <a:solidFill>
              <a:srgbClr val="C8761A">
                <a:alpha val="7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2772166" y="385284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snap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jitter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487471" y="2738591"/>
            <a:ext cx="1188720" cy="1188720"/>
          </a:xfrm>
          <a:prstGeom prst="ellipse">
            <a:avLst/>
          </a:prstGeom>
          <a:solidFill>
            <a:srgbClr val="3F6B4A">
              <a:alpha val="20000"/>
            </a:srgbClr>
          </a:solidFill>
          <a:ln w="19050">
            <a:solidFill>
              <a:srgbClr val="3F6B4A">
                <a:alpha val="7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159754" y="385284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schema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remap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1304775" y="2176309"/>
            <a:ext cx="1188720" cy="1188720"/>
          </a:xfrm>
          <a:prstGeom prst="ellipse">
            <a:avLst/>
          </a:prstGeom>
          <a:solidFill>
            <a:srgbClr val="C8761A">
              <a:alpha val="20000"/>
            </a:srgbClr>
          </a:solidFill>
          <a:ln w="19050">
            <a:solidFill>
              <a:srgbClr val="C8761A">
                <a:alpha val="7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61491" y="2319352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hatch ↔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outline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937760" y="16002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3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 measures which rings have collapsed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37760" y="1874520"/>
            <a:ext cx="38404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rewrite is a categorical equivalence on authored convention, not a Euclidean group action.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 they generate the stationary manifold the scorer must absorb. Score variance under M4 across rewrite kinds quantifies which sub-rings have collapsed and which haven’t.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B1D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Operationalized as auxiliary loss: </a:t>
            </a:r>
            <a:pPr indent="0" marL="0">
              <a:buNone/>
            </a:pPr>
            <a:r>
              <a:rPr lang="en-US" sz="1150" b="1" dirty="0">
                <a:solidFill>
                  <a:srgbClr val="C876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L_inv = 𝔼_g ‖f(x) − f(g(x))‖² </a:t>
            </a:r>
            <a:pPr indent="0" marL="0">
              <a:buNone/>
            </a:pPr>
            <a:r>
              <a:rPr lang="en-US" sz="115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Phase 4.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Augrade · GNN technical · M. Mabie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229600" y="48463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13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000" kern="0" dirty="0">
                <a:solidFill>
                  <a:srgbClr val="4A4F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Curriculum — the simple pipeline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914400" cy="0"/>
          </a:xfrm>
          <a:prstGeom prst="line">
            <a:avLst/>
          </a:prstGeom>
          <a:noFill/>
          <a:ln w="19050">
            <a:solidFill>
              <a:srgbClr val="C8761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D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phases. Each phase is one DM boundary regime.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02920" y="160020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87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88720" y="16002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87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880360" y="16002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87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212080" y="16002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87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903720" y="16002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87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 regime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920" y="1920240"/>
            <a:ext cx="8229600" cy="0"/>
          </a:xfrm>
          <a:prstGeom prst="line">
            <a:avLst/>
          </a:prstGeom>
          <a:noFill/>
          <a:ln w="9525">
            <a:solidFill>
              <a:srgbClr val="C9C2B7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502920" y="1965960"/>
            <a:ext cx="8229600" cy="4114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02920" y="1965960"/>
            <a:ext cx="685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76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234440" y="196596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D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export, deterministic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880360" y="196596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F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212080" y="196596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D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 + M2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903720" y="196596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 (no learning)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2920" y="2423160"/>
            <a:ext cx="8229600" cy="411480"/>
          </a:xfrm>
          <a:prstGeom prst="rect">
            <a:avLst/>
          </a:prstGeom>
          <a:solidFill>
            <a:srgbClr val="F0EDE6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502920" y="2423160"/>
            <a:ext cx="685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76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234440" y="242316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D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Annotation alignment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880360" y="242316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F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212080" y="242316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D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903720" y="242316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02920" y="2880360"/>
            <a:ext cx="8229600" cy="4114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502920" y="2880360"/>
            <a:ext cx="685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76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234440" y="288036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D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 pair-relation baseline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880360" y="288036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F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calibrated BCE + conformal head per relation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212080" y="288036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D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 sparse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903720" y="288036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implicit / weak fixed-point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02920" y="3337560"/>
            <a:ext cx="8229600" cy="411480"/>
          </a:xfrm>
          <a:prstGeom prst="rect">
            <a:avLst/>
          </a:prstGeom>
          <a:solidFill>
            <a:srgbClr val="F0EDE6"/>
          </a:solidFill>
          <a:ln/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502920" y="3337560"/>
            <a:ext cx="685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76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234440" y="333756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D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Self-supervised contrast over rewrite orbits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880360" y="333756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F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InfoNCE on (x, g(x)) positives; random negatives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212080" y="333756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D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encoder + head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903720" y="333756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implicit / weak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02920" y="3794760"/>
            <a:ext cx="8229600" cy="4114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502920" y="3794760"/>
            <a:ext cx="685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76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234440" y="379476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D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GNN supervised relations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880360" y="379476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F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BCE per relation + L_inv = 𝔼ₙ‖f(x) − f(g(x))‖²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212080" y="379476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D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 (GraphSAGE/GATv2)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903720" y="379476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semi-structured / intended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02920" y="4251960"/>
            <a:ext cx="8229600" cy="411480"/>
          </a:xfrm>
          <a:prstGeom prst="rect">
            <a:avLst/>
          </a:prstGeom>
          <a:solidFill>
            <a:srgbClr val="F0EDE6"/>
          </a:solidFill>
          <a:ln/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502920" y="4251960"/>
            <a:ext cx="685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76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1234440" y="425196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D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edit proposals under validator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2880360" y="425196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F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validator-accepts ∧ minimal-edit-cost (REINFORCE/GRPO)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212080" y="425196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D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M6 → M7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903720" y="425196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/ weak / discrete (perturbed)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Augrade · GNN technical · M. Mabie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8229600" y="48463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13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000" kern="0" dirty="0">
                <a:solidFill>
                  <a:srgbClr val="4A4F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we want to dress it up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914400" cy="0"/>
          </a:xfrm>
          <a:prstGeom prst="line">
            <a:avLst/>
          </a:prstGeom>
          <a:noFill/>
          <a:ln w="19050">
            <a:solidFill>
              <a:srgbClr val="C8761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D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Add components only when the simple pipeline shows a residual the new component is designed for.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2920" y="1627632"/>
            <a:ext cx="8229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9C2B7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94360" y="1627632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F6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M5 layer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600200" y="1627632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D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Equivariant message passing (GATr-style multivector or ASEN-style permutation base + symmetry-breaking input)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720840" y="1627632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C87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rewrite orbits resist L_inv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02920" y="2130552"/>
            <a:ext cx="8229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9C2B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594360" y="2130552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F6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M5 head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600200" y="2130552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D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Hopfield / dense associative memory over supervector embeddings (Kafraj-Krotov)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720840" y="2130552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C87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carrier-style families recur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02920" y="2633472"/>
            <a:ext cx="8229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9C2B7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94360" y="2633472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F6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M5 retrieval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600200" y="2633472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D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Matryoshka graph embeddings — one representation, many product surfaces (32d cache · 256d routing · 512d offline)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720840" y="2633472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C87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size becomes a product knob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02920" y="3136392"/>
            <a:ext cx="8229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9C2B7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594360" y="3136392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F6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Above M5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600200" y="3136392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D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 autoencoder bridge → tagged readout against codes/materials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720840" y="3136392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C87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becomes a deliverable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02920" y="3639312"/>
            <a:ext cx="8229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9C2B7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4360" y="3639312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F6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M6 generative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600200" y="3639312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D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Diffusion or autoregressive completion head for the inverse problem (plumbing inside a shell)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720840" y="3639312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C87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Flavor 1 (system inference) becomes the priority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02920" y="4142232"/>
            <a:ext cx="8229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9C2B7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594360" y="4142232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F6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M6 ranker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600200" y="4142232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D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Bradley-Terry density-ratio head over frozen GNN embeddings (kalomaze pattern)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720840" y="4142232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C87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acceptance is a 'know it when you see it' axis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Augrade · GNN technical · M. Mabie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229600" y="48463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13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000" kern="0" dirty="0">
                <a:solidFill>
                  <a:srgbClr val="4A4F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State, cache &amp; context — GNN vs LLM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914400" cy="0"/>
          </a:xfrm>
          <a:prstGeom prst="line">
            <a:avLst/>
          </a:prstGeom>
          <a:noFill/>
          <a:ln w="19050">
            <a:solidFill>
              <a:srgbClr val="C8761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D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structural reason this representation matches the editing problem.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02920" y="1600200"/>
            <a:ext cx="4023360" cy="2834640"/>
          </a:xfrm>
          <a:prstGeom prst="rect">
            <a:avLst/>
          </a:prstGeom>
          <a:solidFill>
            <a:srgbClr val="FFFFFF"/>
          </a:solidFill>
          <a:ln w="6350">
            <a:solidFill>
              <a:srgbClr val="C9C2B7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02920" y="1600200"/>
            <a:ext cx="4023360" cy="411480"/>
          </a:xfrm>
          <a:prstGeom prst="rect">
            <a:avLst/>
          </a:prstGeom>
          <a:solidFill>
            <a:srgbClr val="1B1D22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85800" y="16002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EA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2103120"/>
            <a:ext cx="365760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B1D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= KV cache.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Compressed integral path of past attention. Reusable while prefix is unchanged.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B1D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grows O(n).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autoregressive prefix.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B1D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 are append-only.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token edit invalidates cache from that point onward. Boundary-shift and fixed-point drift are unbounded by locality.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600200"/>
            <a:ext cx="40233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3F6B4A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663440" y="1600200"/>
            <a:ext cx="4023360" cy="411480"/>
          </a:xfrm>
          <a:prstGeom prst="rect">
            <a:avLst/>
          </a:prstGeom>
          <a:solidFill>
            <a:srgbClr val="3F6B4A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846320" y="16002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GNN over typed graph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46320" y="2103120"/>
            <a:ext cx="365760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B1D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= per-node embedding cache.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Keyed by (sv_id, model_hash). Invalidate within L hops on graph mutation.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B1D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is the L-hop receptive field.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token range. Bounded by graph locality, not by drawing size.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B1D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 are local.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cascades = local re-message-passing. Fixed points are explicit (DEQ-GNN). Cheap to re-score during interactive use.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4445760"/>
            <a:ext cx="8229600" cy="40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C876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Local graph updates match edit propagation; foundation-model context handles global semantics; validators decide whether either one is allowed to act.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Augrade · GNN technical · M. Mabie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229600" y="48463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13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000" kern="0" dirty="0">
                <a:solidFill>
                  <a:srgbClr val="4A4F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Calibrated ranker — the kalomaze move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914400" cy="0"/>
          </a:xfrm>
          <a:prstGeom prst="line">
            <a:avLst/>
          </a:prstGeom>
          <a:noFill/>
          <a:ln w="19050">
            <a:solidFill>
              <a:srgbClr val="C8761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D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linear head over a frozen GNN learns a density-ratio scorer for edit acceptance.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02920" y="1645920"/>
            <a:ext cx="822960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C9C2B7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685800" y="1828800"/>
            <a:ext cx="594360" cy="594360"/>
          </a:xfrm>
          <a:prstGeom prst="ellipse">
            <a:avLst/>
          </a:prstGeom>
          <a:solidFill>
            <a:srgbClr val="C8761A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85800" y="18288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417320" y="1737360"/>
            <a:ext cx="7178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D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Freeze the GNN after Phase 4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17320" y="2103120"/>
            <a:ext cx="7178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 single [d → d] linear head on top with constant-sum BT logit. All discriminative capacity lives in W; the aggregator is fixed. ~16M params over a much smaller backbone than 8B-class LMs.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2679192"/>
            <a:ext cx="822960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C9C2B7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85800" y="2862072"/>
            <a:ext cx="594360" cy="594360"/>
          </a:xfrm>
          <a:prstGeom prst="ellipse">
            <a:avLst/>
          </a:prstGeom>
          <a:solidFill>
            <a:srgbClr val="C8761A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85800" y="286207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417320" y="2770632"/>
            <a:ext cx="7178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D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Strip-and-flip primitive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17320" y="3136392"/>
            <a:ext cx="7178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 a typed-action / carrier-style hint into the supervector pair before encoding (e.g., 'treat this hatch as wall mass'). Strip the hint before the BT head sees the embedding. Flip chosen/rejected polarity by carrier class.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3712464"/>
            <a:ext cx="822960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C9C2B7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685800" y="3895344"/>
            <a:ext cx="594360" cy="594360"/>
          </a:xfrm>
          <a:prstGeom prst="ellipse">
            <a:avLst/>
          </a:prstGeom>
          <a:solidFill>
            <a:srgbClr val="C8761A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85800" y="3895344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417320" y="3803904"/>
            <a:ext cx="7178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D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Match the chosen distribution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417320" y="4169664"/>
            <a:ext cx="7178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Maximize spread of accepted-edit scores rather than unbounded margin. Class-balance over (relation type, drafter convention, common-vs-rare). Calibrated scalar for M6, with conformal review bands kept intact.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Augrade · GNN technical · M. Mabie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229600" y="48463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13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000" kern="0" dirty="0">
                <a:solidFill>
                  <a:srgbClr val="4A4F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Continual learning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914400" cy="0"/>
          </a:xfrm>
          <a:prstGeom prst="line">
            <a:avLst/>
          </a:prstGeom>
          <a:noFill/>
          <a:ln w="19050">
            <a:solidFill>
              <a:srgbClr val="C8761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D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system improves week-over-week — without retraining.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02920" y="15087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C87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LOOP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783080"/>
            <a:ext cx="150876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C9C2B7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640080" y="1920240"/>
            <a:ext cx="329184" cy="329184"/>
          </a:xfrm>
          <a:prstGeom prst="ellipse">
            <a:avLst/>
          </a:prstGeom>
          <a:solidFill>
            <a:srgbClr val="C8761A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40080" y="19202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228600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1D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Engine output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94360" y="256032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supervector graph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011680" y="214884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7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148840" y="1783080"/>
            <a:ext cx="150876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C9C2B7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2286000" y="1920240"/>
            <a:ext cx="329184" cy="329184"/>
          </a:xfrm>
          <a:prstGeom prst="ellipse">
            <a:avLst/>
          </a:prstGeom>
          <a:solidFill>
            <a:srgbClr val="C8761A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2286000" y="19202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240280" y="228600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1D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Score + uncertainty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240280" y="256032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 + GNN, conformal bands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657600" y="214884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7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794760" y="1783080"/>
            <a:ext cx="150876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C9C2B7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3931920" y="1920240"/>
            <a:ext cx="329184" cy="329184"/>
          </a:xfrm>
          <a:prstGeom prst="ellipse">
            <a:avLst/>
          </a:prstGeom>
          <a:solidFill>
            <a:srgbClr val="C8761A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3931920" y="19202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886200" y="228600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1D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Retrieve weird cases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886200" y="256032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 carriers, validator failures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303520" y="214884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7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440680" y="1783080"/>
            <a:ext cx="150876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C9C2B7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5577840" y="1920240"/>
            <a:ext cx="329184" cy="329184"/>
          </a:xfrm>
          <a:prstGeom prst="ellipse">
            <a:avLst/>
          </a:prstGeom>
          <a:solidFill>
            <a:srgbClr val="C8761A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5577840" y="19202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532120" y="228600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1D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Expert review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532120" y="256032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triage, not blanket label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949440" y="214884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7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086600" y="1783080"/>
            <a:ext cx="150876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C9C2B7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7223760" y="1920240"/>
            <a:ext cx="329184" cy="329184"/>
          </a:xfrm>
          <a:prstGeom prst="ellipse">
            <a:avLst/>
          </a:prstGeom>
          <a:solidFill>
            <a:srgbClr val="C8761A"/>
          </a:solidFill>
          <a:ln/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7223760" y="19202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178040" y="228600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1D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Update + verify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7178040" y="256032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· rules · memory · weights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02920" y="2971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3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↻  Each iteration's residuals become the next iteration's labels — labels, rules, memory, weights all update.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02920" y="33375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C87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AEC ISN'T IID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02920" y="3611880"/>
            <a:ext cx="274320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C9C2B7"/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502920" y="3611880"/>
            <a:ext cx="54864" cy="960120"/>
          </a:xfrm>
          <a:prstGeom prst="rect">
            <a:avLst/>
          </a:prstGeom>
          <a:solidFill>
            <a:srgbClr val="3F6B4A"/>
          </a:solidFill>
          <a:ln/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685800" y="37033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D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Codes version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685800" y="39776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IBC, NEC, ADA, Title 24, IECC. State and local amendments multiply the surface. A 2018 baseline silently goes wrong.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85800" y="4370832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876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M7 validator update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383280" y="3611880"/>
            <a:ext cx="274320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C9C2B7"/>
            </a:solidFill>
            <a:prstDash val="solid"/>
          </a:ln>
        </p:spPr>
        <p:txBody>
          <a:bodyPr/>
          <a:p/>
        </p:txBody>
      </p:sp>
      <p:sp>
        <p:nvSpPr>
          <p:cNvPr id="43" name="Shape 41"/>
          <p:cNvSpPr/>
          <p:nvPr/>
        </p:nvSpPr>
        <p:spPr>
          <a:xfrm>
            <a:off x="3383280" y="3611880"/>
            <a:ext cx="54864" cy="960120"/>
          </a:xfrm>
          <a:prstGeom prst="rect">
            <a:avLst/>
          </a:prstGeom>
          <a:solidFill>
            <a:srgbClr val="3F6B4A"/>
          </a:solidFill>
          <a:ln/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3566160" y="37033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D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Best practices drift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3566160" y="39776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conventions, tag carriers, hatch-vs-outline preferences evolve faster than full retrain cycles.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3566160" y="4370832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876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rule mining back into the engine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263640" y="3611880"/>
            <a:ext cx="274320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C9C2B7"/>
            </a:solidFill>
            <a:prstDash val="solid"/>
          </a:ln>
        </p:spPr>
        <p:txBody>
          <a:bodyPr/>
          <a:p/>
        </p:txBody>
      </p:sp>
      <p:sp>
        <p:nvSpPr>
          <p:cNvPr id="48" name="Shape 46"/>
          <p:cNvSpPr/>
          <p:nvPr/>
        </p:nvSpPr>
        <p:spPr>
          <a:xfrm>
            <a:off x="6263640" y="3611880"/>
            <a:ext cx="54864" cy="960120"/>
          </a:xfrm>
          <a:prstGeom prst="rect">
            <a:avLst/>
          </a:prstGeom>
          <a:solidFill>
            <a:srgbClr val="3F6B4A"/>
          </a:solidFill>
          <a:ln/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6446520" y="37033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D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conventions vary</a:t>
            </a:r>
            <a:endParaRPr lang="en-US" sz="1250" dirty="0"/>
          </a:p>
        </p:txBody>
      </p:sp>
      <p:sp>
        <p:nvSpPr>
          <p:cNvPr id="50" name="Text 48"/>
          <p:cNvSpPr/>
          <p:nvPr/>
        </p:nvSpPr>
        <p:spPr>
          <a:xfrm>
            <a:off x="6446520" y="39776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firm encodes legal and contractual intent in drafting standards. Same edit means different things across clients.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6446520" y="4370832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876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per-project labels + prototype memory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502920" y="4663440"/>
            <a:ext cx="8229600" cy="274320"/>
          </a:xfrm>
          <a:prstGeom prst="rect">
            <a:avLst/>
          </a:prstGeom>
          <a:solidFill>
            <a:srgbClr val="1B1D22"/>
          </a:solidFill>
          <a:ln/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685800" y="4690872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C87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Code change → validator update, not model retrain. </a:t>
            </a:r>
            <a:pPr indent="0" marL="0">
              <a:buNone/>
            </a:pPr>
            <a:r>
              <a:rPr lang="en-US" sz="1100" i="1" dirty="0">
                <a:solidFill>
                  <a:srgbClr val="E9E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learned residual only learns the new rare cases the validator surfaces.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Augrade · GNN technical · M. Mabie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8229600" y="48463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13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000" kern="0" dirty="0">
                <a:solidFill>
                  <a:srgbClr val="4A4F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Search &amp; scaling — Prime Intellect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914400" cy="0"/>
          </a:xfrm>
          <a:prstGeom prst="line">
            <a:avLst/>
          </a:prstGeom>
          <a:noFill/>
          <a:ln w="19050">
            <a:solidFill>
              <a:srgbClr val="C8761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D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5: wrap M7 validators as a verifiers Environment. Reward = validator-accepts ∧ minimal edit cost; hosted prime-rl + LoRA for the typed-action policy.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4023360" cy="3017520"/>
          </a:xfrm>
          <a:prstGeom prst="rect">
            <a:avLst/>
          </a:prstGeom>
          <a:solidFill>
            <a:srgbClr val="FFFFFF"/>
          </a:solidFill>
          <a:ln w="6350">
            <a:solidFill>
              <a:srgbClr val="C9C2B7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02920" y="1691640"/>
            <a:ext cx="73152" cy="3017520"/>
          </a:xfrm>
          <a:prstGeom prst="rect">
            <a:avLst/>
          </a:prstGeom>
          <a:solidFill>
            <a:srgbClr val="3F6B4A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77240" y="1874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D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it fits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2258568"/>
            <a:ext cx="35661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B1D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Phase 5 search-space coverage.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M7 validators (closure, containment, clearance, duplicate-footprint) as a verifiers Environment. Dataset = annotated drawing + corrupted variants. Reward = validator-accepts ∧ minimal edit cost. Hosted prime-rl with LoRA for the typed-action policy.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B1D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Scale-out without infra cost.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Per-token pricing on a multi-tenant cluster, dedicated orchestrator per run. We run breadth experiments while the deterministic stack stays in our hands.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17720" y="1691640"/>
            <a:ext cx="4023360" cy="3017520"/>
          </a:xfrm>
          <a:prstGeom prst="rect">
            <a:avLst/>
          </a:prstGeom>
          <a:solidFill>
            <a:srgbClr val="FFFFFF"/>
          </a:solidFill>
          <a:ln w="6350">
            <a:solidFill>
              <a:srgbClr val="C9C2B7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617720" y="1691640"/>
            <a:ext cx="73152" cy="3017520"/>
          </a:xfrm>
          <a:prstGeom prst="rect">
            <a:avLst/>
          </a:prstGeom>
          <a:solidFill>
            <a:srgbClr val="C8761A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892040" y="1874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D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keep in-house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92040" y="2258568"/>
            <a:ext cx="35661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B1D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Mechanism layer (M1–M3).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Closure, snap, supervector formation, graph export. The boundary-condition-camp commitment lives here.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B1D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Validators (M7).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deterministic. They become the verifier rubric for hosted RL — never the trained component.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B1D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Annotation loop.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review bands, expert feedback. Rule discovery flows back into the deterministic engine, not just into model weights.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Augrade · GNN technical · M. Mabie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229600" y="48463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000" kern="0" dirty="0">
                <a:solidFill>
                  <a:srgbClr val="4A4F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Horizon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914400" cy="0"/>
          </a:xfrm>
          <a:prstGeom prst="line">
            <a:avLst/>
          </a:prstGeom>
          <a:noFill/>
          <a:ln w="19050">
            <a:solidFill>
              <a:srgbClr val="C8761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D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Twelve weeks to substrate. Twelve months to compounded learning.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02920" y="15087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C87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12 WEEKS  —  ship the substrate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828800"/>
            <a:ext cx="1371600" cy="292608"/>
          </a:xfrm>
          <a:prstGeom prst="rect">
            <a:avLst/>
          </a:prstGeom>
          <a:solidFill>
            <a:srgbClr val="1B1D22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02920" y="182880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876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W1–2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02920" y="215798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1D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Graph export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43230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manifest, stable ids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938528" y="1828800"/>
            <a:ext cx="1371600" cy="292608"/>
          </a:xfrm>
          <a:prstGeom prst="rect">
            <a:avLst/>
          </a:prstGeom>
          <a:solidFill>
            <a:srgbClr val="1B1D22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938528" y="182880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876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W3–4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938528" y="215798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1D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Conversion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938528" y="243230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DWG to graph + alignment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374136" y="1828800"/>
            <a:ext cx="1371600" cy="292608"/>
          </a:xfrm>
          <a:prstGeom prst="rect">
            <a:avLst/>
          </a:prstGeom>
          <a:solidFill>
            <a:srgbClr val="1B1D22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3374136" y="182880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876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W5–6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374136" y="215798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1D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Sparse baseline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74136" y="243230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conformal bands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809744" y="1828800"/>
            <a:ext cx="1371600" cy="292608"/>
          </a:xfrm>
          <a:prstGeom prst="rect">
            <a:avLst/>
          </a:prstGeom>
          <a:solidFill>
            <a:srgbClr val="1B1D22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4809744" y="182880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876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W7–8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809744" y="215798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1D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Rewrite tests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09744" y="243230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stability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245352" y="1828800"/>
            <a:ext cx="1371600" cy="292608"/>
          </a:xfrm>
          <a:prstGeom prst="rect">
            <a:avLst/>
          </a:prstGeom>
          <a:solidFill>
            <a:srgbClr val="1B1D22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245352" y="182880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876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W9–10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245352" y="215798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1D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Small GNN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245352" y="243230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if residual exists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680960" y="1828800"/>
            <a:ext cx="1371600" cy="292608"/>
          </a:xfrm>
          <a:prstGeom prst="rect">
            <a:avLst/>
          </a:prstGeom>
          <a:solidFill>
            <a:srgbClr val="1B1D22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7680960" y="182880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876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W11–12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680960" y="215798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1D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 bundle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680960" y="243230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gate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02920" y="2834640"/>
            <a:ext cx="8229600" cy="0"/>
          </a:xfrm>
          <a:prstGeom prst="line">
            <a:avLst/>
          </a:prstGeom>
          <a:noFill/>
          <a:ln w="6350">
            <a:solidFill>
              <a:srgbClr val="C9C2B7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502920" y="29077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3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MONTH-3 GATE  </a:t>
            </a:r>
            <a:pPr indent="0" marL="0">
              <a:buNone/>
            </a:pPr>
            <a:r>
              <a:rPr lang="en-US" sz="10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≥1 relation baseline calibrated · rewrite report exists · GNN beats M3 on one context-heavy slice · validators still own truth.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02920" y="331012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C87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0–12  —  the year arc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02920" y="3611880"/>
            <a:ext cx="20116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C9C2B7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502920" y="3611880"/>
            <a:ext cx="54864" cy="868680"/>
          </a:xfrm>
          <a:prstGeom prst="rect">
            <a:avLst/>
          </a:prstGeom>
          <a:solidFill>
            <a:srgbClr val="C8761A"/>
          </a:solidFill>
          <a:ln/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649224" y="36850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4A4F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Q1  Months 0–3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49224" y="386791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D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Substrate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49224" y="4114800"/>
            <a:ext cx="1810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 graph export · M2 annotation alignment · M3 calibrated baseline.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2606040" y="3611880"/>
            <a:ext cx="20116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C9C2B7"/>
            </a:solidFill>
            <a:prstDash val="solid"/>
          </a:ln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2606040" y="3611880"/>
            <a:ext cx="54864" cy="868680"/>
          </a:xfrm>
          <a:prstGeom prst="rect">
            <a:avLst/>
          </a:prstGeom>
          <a:solidFill>
            <a:srgbClr val="3F6B4A"/>
          </a:solidFill>
          <a:ln/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2752344" y="36850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4A4F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Q2  Months 4–6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2752344" y="386791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D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Residual learning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2752344" y="4114800"/>
            <a:ext cx="1810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 rewrite invariance · M5 small GNN · prototype memory tests.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709160" y="3611880"/>
            <a:ext cx="20116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C9C2B7"/>
            </a:solidFill>
            <a:prstDash val="solid"/>
          </a:ln>
        </p:spPr>
        <p:txBody>
          <a:bodyPr/>
          <a:p/>
        </p:txBody>
      </p:sp>
      <p:sp>
        <p:nvSpPr>
          <p:cNvPr id="44" name="Shape 42"/>
          <p:cNvSpPr/>
          <p:nvPr/>
        </p:nvSpPr>
        <p:spPr>
          <a:xfrm>
            <a:off x="4709160" y="3611880"/>
            <a:ext cx="54864" cy="868680"/>
          </a:xfrm>
          <a:prstGeom prst="rect">
            <a:avLst/>
          </a:prstGeom>
          <a:solidFill>
            <a:srgbClr val="3F6B4A"/>
          </a:solidFill>
          <a:ln/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4855464" y="36850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4A4F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Q3  Months 7–9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855464" y="386791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D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Edit proposals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4855464" y="4114800"/>
            <a:ext cx="1810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M6 typed readout · validator deltas · workflow-exhaust labels.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6812280" y="3611880"/>
            <a:ext cx="20116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C9C2B7"/>
            </a:solidFill>
            <a:prstDash val="solid"/>
          </a:ln>
        </p:spPr>
        <p:txBody>
          <a:bodyPr/>
          <a:p/>
        </p:txBody>
      </p:sp>
      <p:sp>
        <p:nvSpPr>
          <p:cNvPr id="49" name="Shape 47"/>
          <p:cNvSpPr/>
          <p:nvPr/>
        </p:nvSpPr>
        <p:spPr>
          <a:xfrm>
            <a:off x="6812280" y="3611880"/>
            <a:ext cx="54864" cy="868680"/>
          </a:xfrm>
          <a:prstGeom prst="rect">
            <a:avLst/>
          </a:prstGeom>
          <a:solidFill>
            <a:srgbClr val="C8761A"/>
          </a:solidFill>
          <a:ln/>
        </p:spPr>
        <p:txBody>
          <a:bodyPr/>
          <a:p/>
        </p:txBody>
      </p:sp>
      <p:sp>
        <p:nvSpPr>
          <p:cNvPr id="50" name="Text 48"/>
          <p:cNvSpPr/>
          <p:nvPr/>
        </p:nvSpPr>
        <p:spPr>
          <a:xfrm>
            <a:off x="6958584" y="36850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4A4F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Q4  Months 10–12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958584" y="386791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D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 hardening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6958584" y="4114800"/>
            <a:ext cx="1810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cache path · compute profiling · cross-project eval.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502920" y="4617720"/>
            <a:ext cx="8229600" cy="164592"/>
          </a:xfrm>
          <a:prstGeom prst="rect">
            <a:avLst/>
          </a:prstGeom>
          <a:solidFill>
            <a:srgbClr val="1B1D22"/>
          </a:solidFill>
          <a:ln/>
        </p:spPr>
        <p:txBody>
          <a:bodyPr/>
          <a:p/>
        </p:txBody>
      </p:sp>
      <p:sp>
        <p:nvSpPr>
          <p:cNvPr id="54" name="Text 52"/>
          <p:cNvSpPr/>
          <p:nvPr/>
        </p:nvSpPr>
        <p:spPr>
          <a:xfrm>
            <a:off x="594360" y="4617720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87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Branch by evidence  ·  </a:t>
            </a:r>
            <a:pPr indent="0" marL="0">
              <a:buNone/>
            </a:pPr>
            <a:r>
              <a:rPr lang="en-US" sz="900" dirty="0">
                <a:solidFill>
                  <a:srgbClr val="E9E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clean → GNN path  ·  labels noisy → annotation/conversion first  ·  residuals rich → strengthen validators  ·  typed actions stable → hosted RL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Augrade · GNN technical · M. Mabie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8229600" y="48463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13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000" kern="0" dirty="0">
                <a:solidFill>
                  <a:srgbClr val="4A4F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 questions for the call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914400" cy="0"/>
          </a:xfrm>
          <a:prstGeom prst="line">
            <a:avLst/>
          </a:prstGeom>
          <a:noFill/>
          <a:ln w="19050">
            <a:solidFill>
              <a:srgbClr val="C8761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D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 want to learn from your end of the table.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02920" y="1737360"/>
            <a:ext cx="274320" cy="274320"/>
          </a:xfrm>
          <a:prstGeom prst="ellipse">
            <a:avLst/>
          </a:prstGeom>
          <a:solidFill>
            <a:srgbClr val="E9CFA9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02920" y="1737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876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" y="169164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D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authored rewrites are in scope for invariance: collinear split/merge, carrier swap, snap perturbation, schema remap, hatch-vs-outline carrier?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2240280"/>
            <a:ext cx="274320" cy="274320"/>
          </a:xfrm>
          <a:prstGeom prst="ellipse">
            <a:avLst/>
          </a:prstGeom>
          <a:solidFill>
            <a:srgbClr val="E9CFA9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02920" y="2240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876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" y="219456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D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the annotation pipeline produce: primitive-level, supervector, component, relation, edit-event, or workflow trace?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2743200"/>
            <a:ext cx="274320" cy="274320"/>
          </a:xfrm>
          <a:prstGeom prst="ellipse">
            <a:avLst/>
          </a:prstGeom>
          <a:solidFill>
            <a:srgbClr val="E9CFA9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02920" y="2743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876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14400" y="26974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D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is workflow exhaust captured today — revision history, validator residuals, designer comments, time-to-fix? Anything enumerable feeds Phase 1.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3246120"/>
            <a:ext cx="274320" cy="274320"/>
          </a:xfrm>
          <a:prstGeom prst="ellipse">
            <a:avLst/>
          </a:prstGeom>
          <a:solidFill>
            <a:srgbClr val="E9CFA9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02920" y="3246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876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14400" y="32004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D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envelope: interactive CPU loop, batch GPU review, both? Decides PyG-flexible vs custom batched-tensor paths.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" y="3749040"/>
            <a:ext cx="274320" cy="274320"/>
          </a:xfrm>
          <a:prstGeom prst="ellipse">
            <a:avLst/>
          </a:prstGeom>
          <a:solidFill>
            <a:srgbClr val="E9CFA9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502920" y="3749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876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14400" y="370332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D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constraints are first-class: code/compliance, structural, MEP clearance, fire-rating, accessibility? Validator boundary should be enumerated, not hand-waved.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2920" y="4251960"/>
            <a:ext cx="274320" cy="274320"/>
          </a:xfrm>
          <a:prstGeom prst="ellipse">
            <a:avLst/>
          </a:prstGeom>
          <a:solidFill>
            <a:srgbClr val="E9CFA9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02920" y="4251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876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14400" y="420624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D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Appetite for hosted RL infrastructure (Prime Intellect Lab) for Phase 5 search, or all-in-house?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Augrade · GNN technical · M. Mabie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229600" y="48463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13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B1D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41080" y="457200"/>
            <a:ext cx="91440" cy="54864"/>
          </a:xfrm>
          <a:prstGeom prst="rect">
            <a:avLst/>
          </a:prstGeom>
          <a:solidFill>
            <a:srgbClr val="C8761A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8641080" y="960120"/>
            <a:ext cx="91440" cy="54864"/>
          </a:xfrm>
          <a:prstGeom prst="rect">
            <a:avLst/>
          </a:prstGeom>
          <a:solidFill>
            <a:srgbClr val="3A3D44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8641080" y="1463040"/>
            <a:ext cx="91440" cy="54864"/>
          </a:xfrm>
          <a:prstGeom prst="rect">
            <a:avLst/>
          </a:prstGeom>
          <a:solidFill>
            <a:srgbClr val="3A3D44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641080" y="1965960"/>
            <a:ext cx="91440" cy="54864"/>
          </a:xfrm>
          <a:prstGeom prst="rect">
            <a:avLst/>
          </a:prstGeom>
          <a:solidFill>
            <a:srgbClr val="3A3D44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641080" y="2468880"/>
            <a:ext cx="91440" cy="54864"/>
          </a:xfrm>
          <a:prstGeom prst="rect">
            <a:avLst/>
          </a:prstGeom>
          <a:solidFill>
            <a:srgbClr val="3A3D44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8641080" y="2971800"/>
            <a:ext cx="91440" cy="54864"/>
          </a:xfrm>
          <a:prstGeom prst="rect">
            <a:avLst/>
          </a:prstGeom>
          <a:solidFill>
            <a:srgbClr val="3A3D44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8641080" y="3474720"/>
            <a:ext cx="91440" cy="54864"/>
          </a:xfrm>
          <a:prstGeom prst="rect">
            <a:avLst/>
          </a:prstGeom>
          <a:solidFill>
            <a:srgbClr val="3A3D44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8641080" y="3977640"/>
            <a:ext cx="91440" cy="54864"/>
          </a:xfrm>
          <a:prstGeom prst="rect">
            <a:avLst/>
          </a:prstGeom>
          <a:solidFill>
            <a:srgbClr val="3A3D44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000" kern="0" dirty="0">
                <a:solidFill>
                  <a:srgbClr val="E9CFA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Close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1005840"/>
            <a:ext cx="1463040" cy="0"/>
          </a:xfrm>
          <a:prstGeom prst="line">
            <a:avLst/>
          </a:prstGeom>
          <a:noFill/>
          <a:ln w="19050">
            <a:solidFill>
              <a:srgbClr val="C8761A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57200" y="1280160"/>
            <a:ext cx="8229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500" b="1" dirty="0">
                <a:solidFill>
                  <a:srgbClr val="F2EA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 xml:space="preserve">The smallest stack </a:t>
            </a:r>
            <a:pPr indent="0" marL="0">
              <a:spcAft>
                <a:spcPts val="600"/>
              </a:spcAft>
              <a:buNone/>
            </a:pPr>
            <a:r>
              <a:rPr lang="en-US" sz="2500" dirty="0">
                <a:solidFill>
                  <a:srgbClr val="BFB7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that survives contact with the product loop:</a:t>
            </a:r>
            <a:endParaRPr lang="en-US" sz="2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500" dirty="0">
                <a:solidFill>
                  <a:srgbClr val="F2EA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 xml:space="preserve"> </a:t>
            </a:r>
            <a:endParaRPr lang="en-US" sz="2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500" i="1" dirty="0">
                <a:solidFill>
                  <a:srgbClr val="F2EA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 xml:space="preserve">reduce learning complexity, </a:t>
            </a:r>
            <a:pPr indent="0" marL="0">
              <a:spcAft>
                <a:spcPts val="600"/>
              </a:spcAft>
              <a:buNone/>
            </a:pPr>
            <a:r>
              <a:rPr lang="en-US" sz="2500" b="1" i="1" dirty="0">
                <a:solidFill>
                  <a:srgbClr val="3F6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 xml:space="preserve">learn stable latent geometries, </a:t>
            </a:r>
            <a:pPr indent="0" marL="0">
              <a:spcAft>
                <a:spcPts val="600"/>
              </a:spcAft>
              <a:buNone/>
            </a:pPr>
            <a:r>
              <a:rPr lang="en-US" sz="2500" i="1" dirty="0">
                <a:solidFill>
                  <a:srgbClr val="F2EA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 xml:space="preserve">then </a:t>
            </a:r>
            <a:pPr indent="0" marL="0">
              <a:spcAft>
                <a:spcPts val="600"/>
              </a:spcAft>
              <a:buNone/>
            </a:pPr>
            <a:r>
              <a:rPr lang="en-US" sz="2500" b="1" i="1" dirty="0">
                <a:solidFill>
                  <a:srgbClr val="C876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reason generatively over edit, state, and action space.</a:t>
            </a:r>
            <a:endParaRPr lang="en-US" sz="2500" dirty="0"/>
          </a:p>
        </p:txBody>
      </p:sp>
      <p:sp>
        <p:nvSpPr>
          <p:cNvPr id="13" name="Shape 11"/>
          <p:cNvSpPr/>
          <p:nvPr/>
        </p:nvSpPr>
        <p:spPr>
          <a:xfrm>
            <a:off x="457200" y="3794760"/>
            <a:ext cx="8229600" cy="0"/>
          </a:xfrm>
          <a:prstGeom prst="line">
            <a:avLst/>
          </a:prstGeom>
          <a:noFill/>
          <a:ln w="6350">
            <a:solidFill>
              <a:srgbClr val="3A3D44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FB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the smartest model — the environment in which smart models become useful, trusted, and compounding.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42519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i="1" dirty="0">
                <a:solidFill>
                  <a:srgbClr val="F2EA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 xml:space="preserve">The frame ships;  </a:t>
            </a:r>
            <a:pPr indent="0" marL="0">
              <a:buNone/>
            </a:pPr>
            <a:r>
              <a:rPr lang="en-US" sz="1900" b="1" i="1" dirty="0">
                <a:solidFill>
                  <a:srgbClr val="C876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geometry compounds.</a:t>
            </a:r>
            <a:endParaRPr lang="en-US" sz="1900" dirty="0"/>
          </a:p>
          <a:p>
            <a:pPr indent="0" marL="0" algn="l">
              <a:buNone/>
            </a:pPr>
            <a:r>
              <a:rPr lang="en-US" sz="1400" i="1" dirty="0">
                <a:solidFill>
                  <a:srgbClr val="BFB7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best discoveries compile back into the engine.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Malachi Mabie · Mabie Industries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029200" y="484632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DXF_Primitive_to_Polygon · gnn_plan/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Augrade — GNN Strategy</dc:title>
  <dc:subject>PptxGenJS Presentation</dc:subject>
  <dc:creator>Malachi Mabie</dc:creator>
  <cp:lastModifiedBy>Malachi Mabie</cp:lastModifiedBy>
  <cp:revision>1</cp:revision>
  <dcterms:created xsi:type="dcterms:W3CDTF">2026-05-08T06:18:51Z</dcterms:created>
  <dcterms:modified xsi:type="dcterms:W3CDTF">2026-05-08T06:18:51Z</dcterms:modified>
</cp:coreProperties>
</file>