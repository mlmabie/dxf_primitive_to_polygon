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73" r:id="rId24"/>
    <p:sldId id="267" r:id="rId13"/>
    <p:sldId id="268" r:id="rId14"/>
    <p:sldId id="270" r:id="rId16"/>
    <p:sldId id="272" r:id="rId18"/>
  </p:sldIdLst>
  <p:notesMasterIdLst>
    <p:notesMasterId r:id="rId1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13" Type="http://schemas.openxmlformats.org/officeDocument/2006/relationships/slide" Target="slides/slide5.xml"/><Relationship Id="rId14" Type="http://schemas.openxmlformats.org/officeDocument/2006/relationships/slide" Target="slides/slide6.xml"/><Relationship Id="rId16" Type="http://schemas.openxmlformats.org/officeDocument/2006/relationships/slide" Target="slides/slide7.xml"/><Relationship Id="rId18" Type="http://schemas.openxmlformats.org/officeDocument/2006/relationships/slide" Target="slides/slide8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Relationship Id="rId24" Type="http://schemas.openxmlformats.org/officeDocument/2006/relationships/slide" Target="slides/slide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1D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457200"/>
            <a:ext cx="91440" cy="54864"/>
          </a:xfrm>
          <a:prstGeom prst="rect">
            <a:avLst/>
          </a:prstGeom>
          <a:solidFill>
            <a:srgbClr val="3A3D44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411480" y="960120"/>
            <a:ext cx="91440" cy="54864"/>
          </a:xfrm>
          <a:prstGeom prst="rect">
            <a:avLst/>
          </a:prstGeom>
          <a:solidFill>
            <a:srgbClr val="3A3D44"/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411480" y="1463040"/>
            <a:ext cx="91440" cy="54864"/>
          </a:xfrm>
          <a:prstGeom prst="rect">
            <a:avLst/>
          </a:prstGeom>
          <a:solidFill>
            <a:srgbClr val="3A3D44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411480" y="1965960"/>
            <a:ext cx="91440" cy="54864"/>
          </a:xfrm>
          <a:prstGeom prst="rect">
            <a:avLst/>
          </a:prstGeom>
          <a:solidFill>
            <a:srgbClr val="3A3D44"/>
          </a:solidFill>
          <a:ln/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411480" y="2468880"/>
            <a:ext cx="91440" cy="54864"/>
          </a:xfrm>
          <a:prstGeom prst="rect">
            <a:avLst/>
          </a:prstGeom>
          <a:solidFill>
            <a:srgbClr val="3A3D44"/>
          </a:solidFill>
          <a:ln/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411480" y="2971800"/>
            <a:ext cx="91440" cy="54864"/>
          </a:xfrm>
          <a:prstGeom prst="rect">
            <a:avLst/>
          </a:prstGeom>
          <a:solidFill>
            <a:srgbClr val="3A3D44"/>
          </a:solidFill>
          <a:ln/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411480" y="3474720"/>
            <a:ext cx="91440" cy="54864"/>
          </a:xfrm>
          <a:prstGeom prst="rect">
            <a:avLst/>
          </a:prstGeom>
          <a:solidFill>
            <a:srgbClr val="3A3D44"/>
          </a:solidFill>
          <a:ln/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411480" y="3977640"/>
            <a:ext cx="91440" cy="54864"/>
          </a:xfrm>
          <a:prstGeom prst="rect">
            <a:avLst/>
          </a:prstGeom>
          <a:solidFill>
            <a:srgbClr val="C8761A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777240" y="50292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kern="0" dirty="0">
                <a:solidFill>
                  <a:srgbClr val="E9CF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AUGRADE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77240" y="1097280"/>
            <a:ext cx="77724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2EA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Fixed-point iteration</a:t>
            </a:r>
            <a:endParaRPr lang="en-US" sz="4800" dirty="0"/>
          </a:p>
          <a:p>
            <a:pPr indent="0" marL="0">
              <a:buNone/>
            </a:pPr>
            <a:r>
              <a:rPr lang="en-US" sz="4800" b="1" dirty="0">
                <a:solidFill>
                  <a:srgbClr val="F2EA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as the system frame.</a:t>
            </a:r>
            <a:endParaRPr lang="en-US" sz="4800" dirty="0"/>
          </a:p>
        </p:txBody>
      </p:sp>
      <p:sp>
        <p:nvSpPr>
          <p:cNvPr id="12" name="Text 10"/>
          <p:cNvSpPr/>
          <p:nvPr/>
        </p:nvSpPr>
        <p:spPr>
          <a:xfrm>
            <a:off x="777240" y="333756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BFB7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Borrow model capacity. Own problem shape. Validators stay outside the learned stack.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777240" y="3931920"/>
            <a:ext cx="1463040" cy="0"/>
          </a:xfrm>
          <a:prstGeom prst="line">
            <a:avLst/>
          </a:prstGeom>
          <a:noFill/>
          <a:ln w="19050">
            <a:solidFill>
              <a:srgbClr val="C8761A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777240" y="4041648"/>
            <a:ext cx="6400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FB7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Malachi Mabie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BFB7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Mabie Industries · for Krish, Augrade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486400" y="4846320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A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DXF_Primitive_to_Polygon · gnn_plan/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kern="0" dirty="0">
                <a:solidFill>
                  <a:srgbClr val="4A4F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frame</a:t>
            </a:r>
            <a:endParaRPr lang="en-US" sz="1400" dirty="0"/>
          </a:p>
        </p:txBody>
      </p:sp>
      <p:sp>
        <p:nvSpPr>
          <p:cNvPr id="3" name="Shape 1"/>
          <p:cNvSpPr/>
          <p:nvPr/>
        </p:nvSpPr>
        <p:spPr>
          <a:xfrm>
            <a:off x="457200" y="777240"/>
            <a:ext cx="914400" cy="0"/>
          </a:xfrm>
          <a:prstGeom prst="line">
            <a:avLst/>
          </a:prstGeom>
          <a:noFill/>
          <a:ln w="19050">
            <a:solidFill>
              <a:srgbClr val="C8761A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457200" y="96012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1D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Augrade is a fixed-point iteration problem with explicit, weak, discrete boundary conditions.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2514600"/>
            <a:ext cx="2606040" cy="2103120"/>
          </a:xfrm>
          <a:prstGeom prst="rect">
            <a:avLst/>
          </a:prstGeom>
          <a:solidFill>
            <a:srgbClr val="FFFFFF"/>
          </a:solidFill>
          <a:ln w="9525">
            <a:solidFill>
              <a:srgbClr val="C9C2B7"/>
            </a:solidFill>
            <a:prstDash val="solid"/>
          </a:ln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457200" y="2514600"/>
            <a:ext cx="73152" cy="2103120"/>
          </a:xfrm>
          <a:prstGeom prst="rect">
            <a:avLst/>
          </a:prstGeom>
          <a:solidFill>
            <a:srgbClr val="C8761A"/>
          </a:solidFill>
          <a:ln/>
        </p:spPr>
        <p:txBody>
          <a:bodyPr/>
          <a:p/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2743200"/>
            <a:ext cx="292608" cy="29260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143000" y="269748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1D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Mechanism layer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731520" y="3246120"/>
            <a:ext cx="21031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4F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Closure, winding, family scoping, provenance. Deterministic by construction. The take-home submission ships this layer.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291840" y="2514600"/>
            <a:ext cx="2606040" cy="2103120"/>
          </a:xfrm>
          <a:prstGeom prst="rect">
            <a:avLst/>
          </a:prstGeom>
          <a:solidFill>
            <a:srgbClr val="FFFFFF"/>
          </a:solidFill>
          <a:ln w="9525">
            <a:solidFill>
              <a:srgbClr val="C9C2B7"/>
            </a:solidFill>
            <a:prstDash val="solid"/>
          </a:ln>
        </p:spPr>
        <p:txBody>
          <a:bodyPr/>
          <a:p/>
        </p:txBody>
      </p:sp>
      <p:sp>
        <p:nvSpPr>
          <p:cNvPr id="11" name="Shape 8"/>
          <p:cNvSpPr/>
          <p:nvPr/>
        </p:nvSpPr>
        <p:spPr>
          <a:xfrm>
            <a:off x="3291840" y="2514600"/>
            <a:ext cx="73152" cy="2103120"/>
          </a:xfrm>
          <a:prstGeom prst="rect">
            <a:avLst/>
          </a:prstGeom>
          <a:solidFill>
            <a:srgbClr val="3F6B4A"/>
          </a:solidFill>
          <a:ln/>
        </p:spPr>
        <p:txBody>
          <a:bodyPr/>
          <a:p/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6160" y="2743200"/>
            <a:ext cx="292608" cy="29260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977640" y="269748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1D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Learned residual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3566160" y="3246120"/>
            <a:ext cx="21031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4F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Relational consistency over typed graphs and calibrated edit proposals. GNN earns its keep here, where neighborhood context decides.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6126480" y="2514600"/>
            <a:ext cx="2606040" cy="2103120"/>
          </a:xfrm>
          <a:prstGeom prst="rect">
            <a:avLst/>
          </a:prstGeom>
          <a:solidFill>
            <a:srgbClr val="FFFFFF"/>
          </a:solidFill>
          <a:ln w="9525">
            <a:solidFill>
              <a:srgbClr val="C9C2B7"/>
            </a:solidFill>
            <a:prstDash val="solid"/>
          </a:ln>
        </p:spPr>
        <p:txBody>
          <a:bodyPr/>
          <a:p/>
        </p:txBody>
      </p:sp>
      <p:sp>
        <p:nvSpPr>
          <p:cNvPr id="16" name="Shape 12"/>
          <p:cNvSpPr/>
          <p:nvPr/>
        </p:nvSpPr>
        <p:spPr>
          <a:xfrm>
            <a:off x="6126480" y="2514600"/>
            <a:ext cx="73152" cy="2103120"/>
          </a:xfrm>
          <a:prstGeom prst="rect">
            <a:avLst/>
          </a:prstGeom>
          <a:solidFill>
            <a:srgbClr val="C8761A"/>
          </a:solidFill>
          <a:ln/>
        </p:spPr>
        <p:txBody>
          <a:bodyPr/>
          <a:p/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2743200"/>
            <a:ext cx="292608" cy="29260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812280" y="269748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1D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Validator boundary</a:t>
            </a:r>
            <a:endParaRPr lang="en-US" sz="1600" dirty="0"/>
          </a:p>
        </p:txBody>
      </p:sp>
      <p:sp>
        <p:nvSpPr>
          <p:cNvPr id="19" name="Text 14"/>
          <p:cNvSpPr/>
          <p:nvPr/>
        </p:nvSpPr>
        <p:spPr>
          <a:xfrm>
            <a:off x="6400800" y="3246120"/>
            <a:ext cx="21031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4F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Explicit, weak, discrete checks (closure, containment, clearance) kept outside the learned stack so plasticity cannot drift the geometry.</a:t>
            </a:r>
            <a:endParaRPr lang="en-US" sz="1150" dirty="0"/>
          </a:p>
        </p:txBody>
      </p:sp>
      <p:sp>
        <p:nvSpPr>
          <p:cNvPr id="20" name="Text 15"/>
          <p:cNvSpPr/>
          <p:nvPr/>
        </p:nvSpPr>
        <p:spPr>
          <a:xfrm>
            <a:off x="457200" y="48463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4F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Augrade · GNN doctrine · M. Mabie</a:t>
            </a:r>
            <a:endParaRPr lang="en-US" sz="900" dirty="0"/>
          </a:p>
        </p:txBody>
      </p:sp>
      <p:sp>
        <p:nvSpPr>
          <p:cNvPr id="21" name="Text 16"/>
          <p:cNvSpPr/>
          <p:nvPr/>
        </p:nvSpPr>
        <p:spPr>
          <a:xfrm>
            <a:off x="8229600" y="484632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A4F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/ 08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kern="0" dirty="0">
                <a:solidFill>
                  <a:srgbClr val="4A4F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Complexity is observer-relative</a:t>
            </a:r>
            <a:endParaRPr lang="en-US" sz="1400" dirty="0"/>
          </a:p>
        </p:txBody>
      </p:sp>
      <p:sp>
        <p:nvSpPr>
          <p:cNvPr id="3" name="Shape 1"/>
          <p:cNvSpPr/>
          <p:nvPr/>
        </p:nvSpPr>
        <p:spPr>
          <a:xfrm>
            <a:off x="457200" y="777240"/>
            <a:ext cx="914400" cy="0"/>
          </a:xfrm>
          <a:prstGeom prst="line">
            <a:avLst/>
          </a:prstGeom>
          <a:noFill/>
          <a:ln w="19050">
            <a:solidFill>
              <a:srgbClr val="C8761A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1D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Once the shape is known, the problem stops being “complex” and becomes mechanism.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502920" y="1600200"/>
            <a:ext cx="3154680" cy="2331720"/>
          </a:xfrm>
          <a:prstGeom prst="rect">
            <a:avLst/>
          </a:prstGeom>
          <a:solidFill>
            <a:srgbClr val="1B1D22"/>
          </a:solidFill>
          <a:ln/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502920" y="1600200"/>
            <a:ext cx="73152" cy="2331720"/>
          </a:xfrm>
          <a:prstGeom prst="rect">
            <a:avLst/>
          </a:prstGeom>
          <a:solidFill>
            <a:srgbClr val="C8761A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77240" y="17830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kern="0" dirty="0">
                <a:solidFill>
                  <a:srgbClr val="C876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THESIS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77240" y="2103120"/>
            <a:ext cx="27432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F2EA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Complexity is not intrinsic to the problem.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BFB7A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It is the mismatch between a problem and an observer.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00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 xml:space="preserve"> 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i="1" dirty="0">
                <a:solidFill>
                  <a:srgbClr val="F2EA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modeling task is to change the observer until the problem has shape.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840480" y="1600200"/>
            <a:ext cx="4846320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C9C2B7"/>
            </a:solidFill>
            <a:prstDash val="solid"/>
          </a:ln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3840480" y="1600200"/>
            <a:ext cx="73152" cy="1005840"/>
          </a:xfrm>
          <a:prstGeom prst="rect">
            <a:avLst/>
          </a:prstGeom>
          <a:solidFill>
            <a:srgbClr val="3F6B4A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4114800" y="1691640"/>
            <a:ext cx="4434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kern="0" dirty="0">
                <a:solidFill>
                  <a:srgbClr val="3F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complexity  —  measurable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114800" y="1984248"/>
            <a:ext cx="4434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B1D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 size &amp; density · entity entropy · rewrite variance · label noise · coverage residuals.</a:t>
            </a:r>
            <a:pPr indent="0" marL="0">
              <a:buNone/>
            </a:pPr>
            <a:r>
              <a:rPr lang="en-US" sz="1150" i="1" dirty="0">
                <a:solidFill>
                  <a:srgbClr val="4A4F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 Use metrics, sweeps, and ablations.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3840480" y="2788920"/>
            <a:ext cx="4846320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C9C2B7"/>
            </a:solidFill>
            <a:prstDash val="solid"/>
          </a:ln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>
            <a:off x="3840480" y="2788920"/>
            <a:ext cx="73152" cy="1005840"/>
          </a:xfrm>
          <a:prstGeom prst="rect">
            <a:avLst/>
          </a:prstGeom>
          <a:solidFill>
            <a:srgbClr val="C8761A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4114800" y="2880360"/>
            <a:ext cx="4434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kern="0" dirty="0">
                <a:solidFill>
                  <a:srgbClr val="C876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complexity  —  observable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114800" y="3172968"/>
            <a:ext cx="4434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B1D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boundary conditions · representation target · validator loop · expert priors · active context.</a:t>
            </a:r>
            <a:pPr indent="0" marL="0">
              <a:buNone/>
            </a:pPr>
            <a:r>
              <a:rPr lang="en-US" sz="1150" i="1" dirty="0">
                <a:solidFill>
                  <a:srgbClr val="4A4F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 Change the observer, then re-measure.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502920" y="399592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kern="0" dirty="0">
                <a:solidFill>
                  <a:srgbClr val="4A4F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the value compounds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02920" y="4224528"/>
            <a:ext cx="1536192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4A4F57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502920" y="4224528"/>
            <a:ext cx="15361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B1D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unknown soup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2039112" y="4407408"/>
            <a:ext cx="91440" cy="0"/>
          </a:xfrm>
          <a:prstGeom prst="line">
            <a:avLst/>
          </a:prstGeom>
          <a:noFill/>
          <a:ln w="19050">
            <a:solidFill>
              <a:srgbClr val="C8761A"/>
            </a:solidFill>
            <a:prstDash val="solid"/>
          </a:ln>
        </p:spPr>
        <p:txBody>
          <a:bodyPr/>
          <a:p/>
        </p:txBody>
      </p:sp>
      <p:sp>
        <p:nvSpPr>
          <p:cNvPr id="21" name="Shape 19"/>
          <p:cNvSpPr/>
          <p:nvPr/>
        </p:nvSpPr>
        <p:spPr>
          <a:xfrm>
            <a:off x="2130552" y="4224528"/>
            <a:ext cx="1536192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C8761A"/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2130552" y="4224528"/>
            <a:ext cx="15361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B1D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boundary conditions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3666744" y="4407408"/>
            <a:ext cx="91440" cy="0"/>
          </a:xfrm>
          <a:prstGeom prst="line">
            <a:avLst/>
          </a:prstGeom>
          <a:noFill/>
          <a:ln w="19050">
            <a:solidFill>
              <a:srgbClr val="3F6B4A"/>
            </a:solidFill>
            <a:prstDash val="solid"/>
          </a:ln>
        </p:spPr>
        <p:txBody>
          <a:bodyPr/>
          <a:p/>
        </p:txBody>
      </p:sp>
      <p:sp>
        <p:nvSpPr>
          <p:cNvPr id="24" name="Shape 22"/>
          <p:cNvSpPr/>
          <p:nvPr/>
        </p:nvSpPr>
        <p:spPr>
          <a:xfrm>
            <a:off x="3758184" y="4224528"/>
            <a:ext cx="1536192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3F6B4A"/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3758184" y="4224528"/>
            <a:ext cx="15361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B1D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latent geometry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294376" y="4407408"/>
            <a:ext cx="91440" cy="0"/>
          </a:xfrm>
          <a:prstGeom prst="line">
            <a:avLst/>
          </a:prstGeom>
          <a:noFill/>
          <a:ln w="19050">
            <a:solidFill>
              <a:srgbClr val="3F6B4A"/>
            </a:solidFill>
            <a:prstDash val="solid"/>
          </a:ln>
        </p:spPr>
        <p:txBody>
          <a:bodyPr/>
          <a:p/>
        </p:txBody>
      </p:sp>
      <p:sp>
        <p:nvSpPr>
          <p:cNvPr id="27" name="Shape 25"/>
          <p:cNvSpPr/>
          <p:nvPr/>
        </p:nvSpPr>
        <p:spPr>
          <a:xfrm>
            <a:off x="5385816" y="4224528"/>
            <a:ext cx="1536192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3F6B4A"/>
            </a:solidFill>
            <a:prstDash val="solid"/>
          </a:ln>
        </p:spPr>
        <p:txBody>
          <a:bodyPr/>
          <a:p/>
        </p:txBody>
      </p:sp>
      <p:sp>
        <p:nvSpPr>
          <p:cNvPr id="28" name="Text 26"/>
          <p:cNvSpPr/>
          <p:nvPr/>
        </p:nvSpPr>
        <p:spPr>
          <a:xfrm>
            <a:off x="5385816" y="4224528"/>
            <a:ext cx="15361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B1D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generative reasoning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6922008" y="4407408"/>
            <a:ext cx="91440" cy="0"/>
          </a:xfrm>
          <a:prstGeom prst="line">
            <a:avLst/>
          </a:prstGeom>
          <a:noFill/>
          <a:ln w="19050">
            <a:solidFill>
              <a:srgbClr val="C8761A"/>
            </a:solidFill>
            <a:prstDash val="solid"/>
          </a:ln>
        </p:spPr>
        <p:txBody>
          <a:bodyPr/>
          <a:p/>
        </p:txBody>
      </p:sp>
      <p:sp>
        <p:nvSpPr>
          <p:cNvPr id="30" name="Shape 28"/>
          <p:cNvSpPr/>
          <p:nvPr/>
        </p:nvSpPr>
        <p:spPr>
          <a:xfrm>
            <a:off x="7013448" y="4224528"/>
            <a:ext cx="1536192" cy="365760"/>
          </a:xfrm>
          <a:prstGeom prst="rect">
            <a:avLst/>
          </a:prstGeom>
          <a:solidFill>
            <a:srgbClr val="1B1D22"/>
          </a:solidFill>
          <a:ln w="12700">
            <a:solidFill>
              <a:srgbClr val="C8761A"/>
            </a:solidFill>
            <a:prstDash val="solid"/>
          </a:ln>
        </p:spPr>
        <p:txBody>
          <a:bodyPr/>
          <a:p/>
        </p:txBody>
      </p:sp>
      <p:sp>
        <p:nvSpPr>
          <p:cNvPr id="31" name="Text 29"/>
          <p:cNvSpPr/>
          <p:nvPr/>
        </p:nvSpPr>
        <p:spPr>
          <a:xfrm>
            <a:off x="7013448" y="4224528"/>
            <a:ext cx="15361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2EA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 profit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502920" y="4626864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4A4F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 is shared geometry between neural representation and model behavior; the system should expose and train against that geometry.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457200" y="48463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4F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Augrade · GNN doctrine · M. Mabie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8229600" y="484632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A4F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/ 08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kern="0" dirty="0">
                <a:solidFill>
                  <a:srgbClr val="4A4F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Quality loops: make review worth doing</a:t>
            </a:r>
            <a:endParaRPr lang="en-US" sz="1400" dirty="0"/>
          </a:p>
        </p:txBody>
      </p:sp>
      <p:sp>
        <p:nvSpPr>
          <p:cNvPr id="3" name="Shape 1"/>
          <p:cNvSpPr/>
          <p:nvPr/>
        </p:nvSpPr>
        <p:spPr>
          <a:xfrm>
            <a:off x="457200" y="777240"/>
            <a:ext cx="914400" cy="0"/>
          </a:xfrm>
          <a:prstGeom prst="line">
            <a:avLst/>
          </a:prstGeom>
          <a:noFill/>
          <a:ln w="19050">
            <a:solidFill>
              <a:srgbClr val="C8761A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1D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human loop is not a tax. It is the product surface where expertise becomes data.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502920" y="1627632"/>
            <a:ext cx="2697480" cy="2926080"/>
          </a:xfrm>
          <a:prstGeom prst="rect">
            <a:avLst/>
          </a:prstGeom>
          <a:solidFill>
            <a:srgbClr val="FFFFFF"/>
          </a:solidFill>
          <a:ln w="6350">
            <a:solidFill>
              <a:srgbClr val="C9C2B7"/>
            </a:solidFill>
            <a:prstDash val="solid"/>
          </a:ln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502920" y="1627632"/>
            <a:ext cx="73152" cy="2926080"/>
          </a:xfrm>
          <a:prstGeom prst="rect">
            <a:avLst/>
          </a:prstGeom>
          <a:solidFill>
            <a:srgbClr val="4A4F57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77240" y="1792224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D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Operator sees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77240" y="2084832"/>
            <a:ext cx="2331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4A4F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the review surface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777240" y="2359152"/>
            <a:ext cx="22860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4A4F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/ after overlay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4A4F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hypothesis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4A4F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validator residual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4A4F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similar past cases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4A4F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one-click approve / reject / repair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4A4F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why-it-matters explanation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91840" y="1627632"/>
            <a:ext cx="2697480" cy="2926080"/>
          </a:xfrm>
          <a:prstGeom prst="rect">
            <a:avLst/>
          </a:prstGeom>
          <a:solidFill>
            <a:srgbClr val="FFFFFF"/>
          </a:solidFill>
          <a:ln w="6350">
            <a:solidFill>
              <a:srgbClr val="C9C2B7"/>
            </a:solidFill>
            <a:prstDash val="solid"/>
          </a:ln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3291840" y="1627632"/>
            <a:ext cx="73152" cy="2926080"/>
          </a:xfrm>
          <a:prstGeom prst="rect">
            <a:avLst/>
          </a:prstGeom>
          <a:solidFill>
            <a:srgbClr val="C8761A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3566160" y="1792224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D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System captures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566160" y="2084832"/>
            <a:ext cx="2331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4A4F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into persistent memory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3566160" y="2359152"/>
            <a:ext cx="22860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4A4F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 / preference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4A4F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correction trace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4A4F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 delta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4A4F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validator before / after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4A4F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time-to-fix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4A4F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shift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4A4F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motif / rule candidate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080760" y="1627632"/>
            <a:ext cx="2697480" cy="2926080"/>
          </a:xfrm>
          <a:prstGeom prst="rect">
            <a:avLst/>
          </a:prstGeom>
          <a:solidFill>
            <a:srgbClr val="FFFFFF"/>
          </a:solidFill>
          <a:ln w="6350">
            <a:solidFill>
              <a:srgbClr val="C9C2B7"/>
            </a:solidFill>
            <a:prstDash val="solid"/>
          </a:ln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>
            <a:off x="6080760" y="1627632"/>
            <a:ext cx="73152" cy="2926080"/>
          </a:xfrm>
          <a:prstGeom prst="rect">
            <a:avLst/>
          </a:prstGeom>
          <a:solidFill>
            <a:srgbClr val="3F6B4A"/>
          </a:solidFill>
          <a:ln/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6355080" y="1792224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D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Product improves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355080" y="2084832"/>
            <a:ext cx="2331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4A4F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loop iteration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6355080" y="2359152"/>
            <a:ext cx="22860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4A4F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fewer repeated errors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4A4F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retrieval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4A4F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tighter conformal bands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4A4F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stronger prototype memory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4A4F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deterministic rules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4A4F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safer auto-apply threshold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02920" y="4555000"/>
            <a:ext cx="8229600" cy="291320"/>
          </a:xfrm>
          <a:prstGeom prst="rect">
            <a:avLst/>
          </a:prstGeom>
          <a:solidFill>
            <a:srgbClr val="1B1D22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594360" y="4555000"/>
            <a:ext cx="8046720" cy="291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876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Engagement is an ML systems variable:  </a:t>
            </a:r>
            <a:pPr indent="0" marL="0">
              <a:buNone/>
            </a:pPr>
            <a:r>
              <a:rPr lang="en-US" sz="950" i="1" dirty="0">
                <a:solidFill>
                  <a:srgbClr val="E9E2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DX creates better labels; better labels create better automation; better automation earns more trust.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457200" y="48463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4F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Augrade · GNN doctrine · M. Mabie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8229600" y="484632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A4F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/ 08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kern="0" dirty="0">
                <a:solidFill>
                  <a:srgbClr val="4A4F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Search &amp; scaling — Prime Intellect</a:t>
            </a:r>
            <a:endParaRPr lang="en-US" sz="1400" dirty="0"/>
          </a:p>
        </p:txBody>
      </p:sp>
      <p:sp>
        <p:nvSpPr>
          <p:cNvPr id="3" name="Shape 1"/>
          <p:cNvSpPr/>
          <p:nvPr/>
        </p:nvSpPr>
        <p:spPr>
          <a:xfrm>
            <a:off x="457200" y="777240"/>
            <a:ext cx="914400" cy="0"/>
          </a:xfrm>
          <a:prstGeom prst="line">
            <a:avLst/>
          </a:prstGeom>
          <a:noFill/>
          <a:ln w="19050">
            <a:solidFill>
              <a:srgbClr val="C8761A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1D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Useful for one specific thing, not the whole stack. Mechanism layer and validators stay in-house; search infrastructure is borrowed.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502920" y="1691640"/>
            <a:ext cx="4023360" cy="3017520"/>
          </a:xfrm>
          <a:prstGeom prst="rect">
            <a:avLst/>
          </a:prstGeom>
          <a:solidFill>
            <a:srgbClr val="FFFFFF"/>
          </a:solidFill>
          <a:ln w="6350">
            <a:solidFill>
              <a:srgbClr val="C9C2B7"/>
            </a:solidFill>
            <a:prstDash val="solid"/>
          </a:ln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502920" y="1691640"/>
            <a:ext cx="73152" cy="3017520"/>
          </a:xfrm>
          <a:prstGeom prst="rect">
            <a:avLst/>
          </a:prstGeom>
          <a:solidFill>
            <a:srgbClr val="3F6B4A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77240" y="18745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D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Where it fits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77240" y="2258568"/>
            <a:ext cx="356616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1B1D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Phase 5 search-space coverage. 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4A4F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 M7 validators (closure, containment, clearance, duplicate-footprint) as a verifiers Environment. Dataset = annotated drawing + corrupted variants. Reward = validator-accepts ∧ minimal edit cost. Hosted prime-rl with LoRA for the typed-action policy.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1B1D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Scale-out without infra cost. 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4A4F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Per-token pricing on a multi-tenant cluster, dedicated orchestrator per run. We run breadth experiments while the deterministic stack stays in our hands.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617720" y="1691640"/>
            <a:ext cx="4023360" cy="3017520"/>
          </a:xfrm>
          <a:prstGeom prst="rect">
            <a:avLst/>
          </a:prstGeom>
          <a:solidFill>
            <a:srgbClr val="FFFFFF"/>
          </a:solidFill>
          <a:ln w="6350">
            <a:solidFill>
              <a:srgbClr val="C9C2B7"/>
            </a:solidFill>
            <a:prstDash val="solid"/>
          </a:ln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4617720" y="1691640"/>
            <a:ext cx="73152" cy="3017520"/>
          </a:xfrm>
          <a:prstGeom prst="rect">
            <a:avLst/>
          </a:prstGeom>
          <a:solidFill>
            <a:srgbClr val="C8761A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4892040" y="18745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D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we keep in-house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892040" y="2258568"/>
            <a:ext cx="356616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1B1D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Mechanism layer (M1–M3). 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4A4F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Closure, snap, supervector formation, graph export. The boundary-condition-camp commitment lives here.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1B1D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Validators (M7). 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4A4F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Stay deterministic. They become the verifier rubric for hosted RL — never the trained component.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1B1D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Annotation loop. 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4A4F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Calibrated review bands, expert feedback. Rule discovery flows back into the deterministic engine, not just into model weights.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57200" y="48463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4F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Augrade · GNN doctrine · M. Mabie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8229600" y="484632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A4F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/ 08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kern="0" dirty="0">
                <a:solidFill>
                  <a:srgbClr val="4A4F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Persistent edge in a world of SAI</a:t>
            </a:r>
            <a:endParaRPr lang="en-US" sz="1400" dirty="0"/>
          </a:p>
        </p:txBody>
      </p:sp>
      <p:sp>
        <p:nvSpPr>
          <p:cNvPr id="3" name="Shape 1"/>
          <p:cNvSpPr/>
          <p:nvPr/>
        </p:nvSpPr>
        <p:spPr>
          <a:xfrm>
            <a:off x="457200" y="777240"/>
            <a:ext cx="914400" cy="0"/>
          </a:xfrm>
          <a:prstGeom prst="line">
            <a:avLst/>
          </a:prstGeom>
          <a:noFill/>
          <a:ln w="19050">
            <a:solidFill>
              <a:srgbClr val="C8761A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1D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When generic cognition gets cheap, the edge moves to boundary conditions, memory, and the compiler loop.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502920" y="1627632"/>
            <a:ext cx="2697480" cy="2926080"/>
          </a:xfrm>
          <a:prstGeom prst="rect">
            <a:avLst/>
          </a:prstGeom>
          <a:solidFill>
            <a:srgbClr val="FFFFFF"/>
          </a:solidFill>
          <a:ln w="6350">
            <a:solidFill>
              <a:srgbClr val="C9C2B7"/>
            </a:solidFill>
            <a:prstDash val="solid"/>
          </a:ln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502920" y="1627632"/>
            <a:ext cx="73152" cy="2926080"/>
          </a:xfrm>
          <a:prstGeom prst="rect">
            <a:avLst/>
          </a:prstGeom>
          <a:solidFill>
            <a:srgbClr val="4A4F57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77240" y="1792224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D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Commoditizes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77240" y="2084832"/>
            <a:ext cx="2331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4A4F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cheap intelligence eats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777240" y="2359152"/>
            <a:ext cx="22860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4A4F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scaffolding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4A4F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 search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4A4F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model training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4A4F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synthetic rewrite generation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4A4F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 harness boilerplate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4A4F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generic planning agents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91840" y="1627632"/>
            <a:ext cx="2697480" cy="2926080"/>
          </a:xfrm>
          <a:prstGeom prst="rect">
            <a:avLst/>
          </a:prstGeom>
          <a:solidFill>
            <a:srgbClr val="FFFFFF"/>
          </a:solidFill>
          <a:ln w="6350">
            <a:solidFill>
              <a:srgbClr val="C9C2B7"/>
            </a:solidFill>
            <a:prstDash val="solid"/>
          </a:ln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3291840" y="1627632"/>
            <a:ext cx="73152" cy="2926080"/>
          </a:xfrm>
          <a:prstGeom prst="rect">
            <a:avLst/>
          </a:prstGeom>
          <a:solidFill>
            <a:srgbClr val="C8761A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3566160" y="1792224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D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Persists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566160" y="2084832"/>
            <a:ext cx="2331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4A4F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boundary conditions only we can supply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3566160" y="2359152"/>
            <a:ext cx="22860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4A4F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drawing history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4A4F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correction &amp; rejection traces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4A4F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validator definitions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4A4F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false-merge policy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4A4F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&amp; jurisdiction constraints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4A4F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per-firm drafting conventions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4A4F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persistent object IDs &amp; graph memory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080760" y="1627632"/>
            <a:ext cx="2697480" cy="2926080"/>
          </a:xfrm>
          <a:prstGeom prst="rect">
            <a:avLst/>
          </a:prstGeom>
          <a:solidFill>
            <a:srgbClr val="FFFFFF"/>
          </a:solidFill>
          <a:ln w="6350">
            <a:solidFill>
              <a:srgbClr val="C9C2B7"/>
            </a:solidFill>
            <a:prstDash val="solid"/>
          </a:ln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>
            <a:off x="6080760" y="1627632"/>
            <a:ext cx="73152" cy="2926080"/>
          </a:xfrm>
          <a:prstGeom prst="rect">
            <a:avLst/>
          </a:prstGeom>
          <a:solidFill>
            <a:srgbClr val="3F6B4A"/>
          </a:solidFill>
          <a:ln/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6355080" y="1792224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D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Compounds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355080" y="2084832"/>
            <a:ext cx="2331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4A4F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gets stronger with use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6355080" y="2359152"/>
            <a:ext cx="22860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4A4F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matryoshka graph embeddings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4A4F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prototype memory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4A4F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expert teaching models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4A4F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discovered supervectors &amp; motifs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4A4F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 compiled into engine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4A4F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verifier environments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4A4F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calibrated auto-apply policy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02920" y="4663440"/>
            <a:ext cx="8229600" cy="201168"/>
          </a:xfrm>
          <a:prstGeom prst="rect">
            <a:avLst/>
          </a:prstGeom>
          <a:solidFill>
            <a:srgbClr val="1B1D22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594360" y="4663440"/>
            <a:ext cx="8046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876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Borrow model capacity  ·  </a:t>
            </a:r>
            <a:pPr indent="0" marL="0">
              <a:buNone/>
            </a:pPr>
            <a:r>
              <a:rPr lang="en-US" sz="1050" i="1" dirty="0">
                <a:solidFill>
                  <a:srgbClr val="E9E2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 problem shape.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457200" y="48463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4F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Augrade · GNN doctrine · M. Mabie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8229600" y="484632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A4F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/ 08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kern="0" dirty="0">
                <a:solidFill>
                  <a:srgbClr val="4A4F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+ compute — accelerate, then pace</a:t>
            </a:r>
            <a:endParaRPr lang="en-US" sz="1400" dirty="0"/>
          </a:p>
        </p:txBody>
      </p:sp>
      <p:sp>
        <p:nvSpPr>
          <p:cNvPr id="3" name="Shape 1"/>
          <p:cNvSpPr/>
          <p:nvPr/>
        </p:nvSpPr>
        <p:spPr>
          <a:xfrm>
            <a:off x="457200" y="777240"/>
            <a:ext cx="914400" cy="0"/>
          </a:xfrm>
          <a:prstGeom prst="line">
            <a:avLst/>
          </a:prstGeom>
          <a:noFill/>
          <a:ln w="19050">
            <a:solidFill>
              <a:srgbClr val="C8761A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1D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Spend compute where iteration is cheap. Slow down where semantics become product truth.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502920" y="1645920"/>
            <a:ext cx="2697480" cy="2926080"/>
          </a:xfrm>
          <a:prstGeom prst="rect">
            <a:avLst/>
          </a:prstGeom>
          <a:solidFill>
            <a:srgbClr val="FFFFFF"/>
          </a:solidFill>
          <a:ln w="6350">
            <a:solidFill>
              <a:srgbClr val="C9C2B7"/>
            </a:solidFill>
            <a:prstDash val="solid"/>
          </a:ln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502920" y="1645920"/>
            <a:ext cx="73152" cy="2926080"/>
          </a:xfrm>
          <a:prstGeom prst="rect">
            <a:avLst/>
          </a:prstGeom>
          <a:solidFill>
            <a:srgbClr val="3F6B4A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77240" y="1810512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1D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Accelerate hard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77240" y="2157984"/>
            <a:ext cx="228600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spcAft>
                <a:spcPts val="400"/>
              </a:spcAft>
            </a:pPr>
            <a:r>
              <a:rPr lang="en-US" sz="1000" dirty="0">
                <a:solidFill>
                  <a:srgbClr val="4A4F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scaffolds for exporters, parsers, manifests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4A4F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feature inventories and ablation sweeps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4A4F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synthetic rewrite generation at scale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4A4F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/ overlay QA screenshots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4A4F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failure clustering and label-queue triage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4A4F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 GPU bursts for GNN and memory heads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91840" y="1645920"/>
            <a:ext cx="2697480" cy="2926080"/>
          </a:xfrm>
          <a:prstGeom prst="rect">
            <a:avLst/>
          </a:prstGeom>
          <a:solidFill>
            <a:srgbClr val="FFFFFF"/>
          </a:solidFill>
          <a:ln w="6350">
            <a:solidFill>
              <a:srgbClr val="C9C2B7"/>
            </a:solidFill>
            <a:prstDash val="solid"/>
          </a:ln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3291840" y="1645920"/>
            <a:ext cx="73152" cy="2926080"/>
          </a:xfrm>
          <a:prstGeom prst="rect">
            <a:avLst/>
          </a:prstGeom>
          <a:solidFill>
            <a:srgbClr val="C8761A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3566160" y="1810512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1D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Pace intentionally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566160" y="2157984"/>
            <a:ext cx="228600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spcAft>
                <a:spcPts val="400"/>
              </a:spcAft>
            </a:pPr>
            <a:r>
              <a:rPr lang="en-US" sz="1000" dirty="0">
                <a:solidFill>
                  <a:srgbClr val="4A4F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ontology: what counts as object, annotation, edit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4A4F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validator definitions and acceptable residuals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4A4F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false-merge thresholds and review-band policy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4A4F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annotation semantics: schedule tag vs correction mark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4A4F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 envelope: interactive CPU vs batch GPU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4A4F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trust: which edits may auto-apply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080760" y="1645920"/>
            <a:ext cx="2697480" cy="2926080"/>
          </a:xfrm>
          <a:prstGeom prst="rect">
            <a:avLst/>
          </a:prstGeom>
          <a:solidFill>
            <a:srgbClr val="FFFFFF"/>
          </a:solidFill>
          <a:ln w="6350">
            <a:solidFill>
              <a:srgbClr val="C9C2B7"/>
            </a:solidFill>
            <a:prstDash val="solid"/>
          </a:ln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>
            <a:off x="6080760" y="1645920"/>
            <a:ext cx="73152" cy="2926080"/>
          </a:xfrm>
          <a:prstGeom prst="rect">
            <a:avLst/>
          </a:prstGeom>
          <a:solidFill>
            <a:srgbClr val="3F6B4A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6355080" y="1810512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1D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Branch by evidence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355080" y="2157984"/>
            <a:ext cx="228600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spcAft>
                <a:spcPts val="400"/>
              </a:spcAft>
            </a:pPr>
            <a:r>
              <a:rPr lang="en-US" sz="1000" dirty="0">
                <a:solidFill>
                  <a:srgbClr val="4A4F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wins → do not force GNN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4A4F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GNN wins context slice → add relation propagation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4A4F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labels weak → invest in annotation alignment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4A4F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rewrite variance high → fix quotient, not architecture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4A4F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validators rich → verifier/search branch later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4A4F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bottleneck → custom batched path, not earlier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02920" y="4663440"/>
            <a:ext cx="8229600" cy="201168"/>
          </a:xfrm>
          <a:prstGeom prst="rect">
            <a:avLst/>
          </a:prstGeom>
          <a:solidFill>
            <a:srgbClr val="1B1D22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594360" y="4663440"/>
            <a:ext cx="8046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876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Acceleration rule  ·  </a:t>
            </a:r>
            <a:pPr indent="0" marL="0">
              <a:buNone/>
            </a:pPr>
            <a:r>
              <a:rPr lang="en-US" sz="1050" i="1" dirty="0">
                <a:solidFill>
                  <a:srgbClr val="E9E2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spend compute on cheap falsification; spend human time on irreversible definitions.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57200" y="48463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4F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Augrade · GNN doctrine · M. Mabie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8229600" y="484632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A4F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/ 08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B1D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41080" y="457200"/>
            <a:ext cx="91440" cy="54864"/>
          </a:xfrm>
          <a:prstGeom prst="rect">
            <a:avLst/>
          </a:prstGeom>
          <a:solidFill>
            <a:srgbClr val="C8761A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8641080" y="960120"/>
            <a:ext cx="91440" cy="54864"/>
          </a:xfrm>
          <a:prstGeom prst="rect">
            <a:avLst/>
          </a:prstGeom>
          <a:solidFill>
            <a:srgbClr val="3A3D44"/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8641080" y="1463040"/>
            <a:ext cx="91440" cy="54864"/>
          </a:xfrm>
          <a:prstGeom prst="rect">
            <a:avLst/>
          </a:prstGeom>
          <a:solidFill>
            <a:srgbClr val="3A3D44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8641080" y="1965960"/>
            <a:ext cx="91440" cy="54864"/>
          </a:xfrm>
          <a:prstGeom prst="rect">
            <a:avLst/>
          </a:prstGeom>
          <a:solidFill>
            <a:srgbClr val="3A3D44"/>
          </a:solidFill>
          <a:ln/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8641080" y="2468880"/>
            <a:ext cx="91440" cy="54864"/>
          </a:xfrm>
          <a:prstGeom prst="rect">
            <a:avLst/>
          </a:prstGeom>
          <a:solidFill>
            <a:srgbClr val="3A3D44"/>
          </a:solidFill>
          <a:ln/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8641080" y="2971800"/>
            <a:ext cx="91440" cy="54864"/>
          </a:xfrm>
          <a:prstGeom prst="rect">
            <a:avLst/>
          </a:prstGeom>
          <a:solidFill>
            <a:srgbClr val="3A3D44"/>
          </a:solidFill>
          <a:ln/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8641080" y="3474720"/>
            <a:ext cx="91440" cy="54864"/>
          </a:xfrm>
          <a:prstGeom prst="rect">
            <a:avLst/>
          </a:prstGeom>
          <a:solidFill>
            <a:srgbClr val="3A3D44"/>
          </a:solidFill>
          <a:ln/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8641080" y="3977640"/>
            <a:ext cx="91440" cy="54864"/>
          </a:xfrm>
          <a:prstGeom prst="rect">
            <a:avLst/>
          </a:prstGeom>
          <a:solidFill>
            <a:srgbClr val="3A3D44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457200" y="5486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kern="0" dirty="0">
                <a:solidFill>
                  <a:srgbClr val="E9CFA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Close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7200" y="1005840"/>
            <a:ext cx="1463040" cy="0"/>
          </a:xfrm>
          <a:prstGeom prst="line">
            <a:avLst/>
          </a:prstGeom>
          <a:noFill/>
          <a:ln w="19050">
            <a:solidFill>
              <a:srgbClr val="C8761A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457200" y="1280160"/>
            <a:ext cx="82296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2500" b="1" dirty="0">
                <a:solidFill>
                  <a:srgbClr val="F2EA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 xml:space="preserve">The smallest stack </a:t>
            </a:r>
            <a:pPr indent="0" marL="0">
              <a:spcAft>
                <a:spcPts val="600"/>
              </a:spcAft>
              <a:buNone/>
            </a:pPr>
            <a:r>
              <a:rPr lang="en-US" sz="2500" dirty="0">
                <a:solidFill>
                  <a:srgbClr val="BFB7A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that survives contact with the product loop:</a:t>
            </a:r>
            <a:endParaRPr lang="en-US" sz="2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2500" dirty="0">
                <a:solidFill>
                  <a:srgbClr val="F2EA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 xml:space="preserve"> </a:t>
            </a:r>
            <a:endParaRPr lang="en-US" sz="2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2500" i="1" dirty="0">
                <a:solidFill>
                  <a:srgbClr val="F2EA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 xml:space="preserve">reduce learning complexity, </a:t>
            </a:r>
            <a:pPr indent="0" marL="0">
              <a:spcAft>
                <a:spcPts val="600"/>
              </a:spcAft>
              <a:buNone/>
            </a:pPr>
            <a:r>
              <a:rPr lang="en-US" sz="2500" b="1" i="1" dirty="0">
                <a:solidFill>
                  <a:srgbClr val="3F6B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 xml:space="preserve">learn stable latent geometries, </a:t>
            </a:r>
            <a:pPr indent="0" marL="0">
              <a:spcAft>
                <a:spcPts val="600"/>
              </a:spcAft>
              <a:buNone/>
            </a:pPr>
            <a:r>
              <a:rPr lang="en-US" sz="2500" i="1" dirty="0">
                <a:solidFill>
                  <a:srgbClr val="F2EA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 xml:space="preserve">then </a:t>
            </a:r>
            <a:pPr indent="0" marL="0">
              <a:spcAft>
                <a:spcPts val="600"/>
              </a:spcAft>
              <a:buNone/>
            </a:pPr>
            <a:r>
              <a:rPr lang="en-US" sz="2500" b="1" i="1" dirty="0">
                <a:solidFill>
                  <a:srgbClr val="C876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reason generatively over edit, state, and action space.</a:t>
            </a:r>
            <a:endParaRPr lang="en-US" sz="2500" dirty="0"/>
          </a:p>
        </p:txBody>
      </p:sp>
      <p:sp>
        <p:nvSpPr>
          <p:cNvPr id="13" name="Shape 11"/>
          <p:cNvSpPr/>
          <p:nvPr/>
        </p:nvSpPr>
        <p:spPr>
          <a:xfrm>
            <a:off x="457200" y="3794760"/>
            <a:ext cx="8229600" cy="0"/>
          </a:xfrm>
          <a:prstGeom prst="line">
            <a:avLst/>
          </a:prstGeom>
          <a:noFill/>
          <a:ln w="6350">
            <a:solidFill>
              <a:srgbClr val="3A3D44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457200" y="39319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BFB7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the smartest model — the environment in which smart models become useful, trusted, and compounding.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57200" y="425196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i="1" dirty="0">
                <a:solidFill>
                  <a:srgbClr val="F2EA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 xml:space="preserve">The frame ships;  </a:t>
            </a:r>
            <a:pPr indent="0" marL="0">
              <a:buNone/>
            </a:pPr>
            <a:r>
              <a:rPr lang="en-US" sz="1900" b="1" i="1" dirty="0">
                <a:solidFill>
                  <a:srgbClr val="C876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geometry compounds.</a:t>
            </a:r>
            <a:endParaRPr lang="en-US" sz="1900" dirty="0"/>
          </a:p>
          <a:p>
            <a:pPr indent="0" marL="0" algn="l">
              <a:buNone/>
            </a:pPr>
            <a:r>
              <a:rPr lang="en-US" sz="1400" i="1" dirty="0">
                <a:solidFill>
                  <a:srgbClr val="BFB7A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best discoveries compile back into the engine.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57200" y="48463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Malachi Mabie · Mabie Industries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5029200" y="4846320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A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DXF_Primitive_to_Polygon · gnn_plan/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Augrade — GNN Strategy</dc:title>
  <dc:subject>PptxGenJS Presentation</dc:subject>
  <dc:creator>Malachi Mabie</dc:creator>
  <cp:lastModifiedBy>Malachi Mabie</cp:lastModifiedBy>
  <cp:revision>1</cp:revision>
  <dcterms:created xsi:type="dcterms:W3CDTF">2026-05-08T06:18:51Z</dcterms:created>
  <dcterms:modified xsi:type="dcterms:W3CDTF">2026-05-08T06:18:51Z</dcterms:modified>
</cp:coreProperties>
</file>